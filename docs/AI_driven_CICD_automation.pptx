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6" r:id="rId14"/>
    <p:sldId id="27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CI/CD Pipeline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Databricks + AWS MWAA Multi-Environment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Overview &amp; Objectives</a:t>
            </a:r>
          </a:p>
          <a:p>
            <a:pPr>
              <a:spcAft>
                <a:spcPts val="500"/>
              </a:spcAft>
              <a:defRPr sz="1400"/>
            </a:pPr>
            <a:r>
              <a:t>• Environment Configuration</a:t>
            </a:r>
          </a:p>
          <a:p>
            <a:pPr>
              <a:spcAft>
                <a:spcPts val="500"/>
              </a:spcAft>
              <a:defRPr sz="1400"/>
            </a:pPr>
            <a:r>
              <a:t>• CI/CD Architecture</a:t>
            </a:r>
          </a:p>
          <a:p>
            <a:pPr>
              <a:spcAft>
                <a:spcPts val="500"/>
              </a:spcAft>
              <a:defRPr sz="1400"/>
            </a:pPr>
            <a:r>
              <a:t>• Branch Strategy &amp; Workflow</a:t>
            </a:r>
          </a:p>
          <a:p>
            <a:pPr>
              <a:spcAft>
                <a:spcPts val="500"/>
              </a:spcAft>
              <a:defRPr sz="1400"/>
            </a:pPr>
            <a:r>
              <a:t>• Deployment Pipeline Steps</a:t>
            </a:r>
          </a:p>
          <a:p>
            <a:pPr>
              <a:spcAft>
                <a:spcPts val="500"/>
              </a:spcAft>
              <a:defRPr sz="1400"/>
            </a:pPr>
            <a:r>
              <a:t>• Approval Gates &amp; Security</a:t>
            </a:r>
          </a:p>
          <a:p>
            <a:pPr>
              <a:spcAft>
                <a:spcPts val="500"/>
              </a:spcAft>
              <a:defRPr sz="1400"/>
            </a:pPr>
            <a:r>
              <a:t>• Monitoring &amp; Rollback</a:t>
            </a:r>
          </a:p>
          <a:p>
            <a:pPr>
              <a:spcAft>
                <a:spcPts val="500"/>
              </a:spcAft>
              <a:defRPr sz="1400"/>
            </a:pPr>
            <a:r>
              <a:t>• Implementation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CI/CD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Automated Deployments</a:t>
            </a:r>
          </a:p>
          <a:p>
            <a:pPr>
              <a:spcAft>
                <a:spcPts val="600"/>
              </a:spcAft>
              <a:defRPr sz="1400"/>
            </a:pPr>
            <a:r>
              <a:t>•   - Push-based deployment to all envs</a:t>
            </a:r>
          </a:p>
          <a:p>
            <a:pPr>
              <a:spcAft>
                <a:spcPts val="600"/>
              </a:spcAft>
              <a:defRPr sz="1400"/>
            </a:pPr>
            <a:r>
              <a:t>•   - No manual intervention required</a:t>
            </a:r>
          </a:p>
          <a:p>
            <a:pPr>
              <a:spcAft>
                <a:spcPts val="600"/>
              </a:spcAft>
              <a:defRPr sz="1400"/>
            </a:pPr>
            <a:r>
              <a:t>• </a:t>
            </a:r>
          </a:p>
          <a:p>
            <a:pPr>
              <a:spcAft>
                <a:spcPts val="600"/>
              </a:spcAft>
              <a:defRPr sz="1400"/>
            </a:pPr>
            <a:r>
              <a:t>• Quality Assurance</a:t>
            </a:r>
          </a:p>
          <a:p>
            <a:pPr>
              <a:spcAft>
                <a:spcPts val="600"/>
              </a:spcAft>
              <a:defRPr sz="1400"/>
            </a:pPr>
            <a:r>
              <a:t>•   - Automated unit/integration tests</a:t>
            </a:r>
          </a:p>
          <a:p>
            <a:pPr>
              <a:spcAft>
                <a:spcPts val="600"/>
              </a:spcAft>
              <a:defRPr sz="1400"/>
            </a:pPr>
            <a:r>
              <a:t>•   - Code quality gates (lint, format)</a:t>
            </a:r>
          </a:p>
          <a:p>
            <a:pPr>
              <a:spcAft>
                <a:spcPts val="600"/>
              </a:spcAft>
              <a:defRPr sz="1400"/>
            </a:pPr>
            <a:r>
              <a:t>•   - Security scanning (CodeQL)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Environment Isolation</a:t>
            </a:r>
          </a:p>
          <a:p>
            <a:pPr>
              <a:spcAft>
                <a:spcPts val="600"/>
              </a:spcAft>
              <a:defRPr sz="1400"/>
            </a:pPr>
            <a:r>
              <a:t>•   - Separate Databricks workspaces</a:t>
            </a:r>
          </a:p>
          <a:p>
            <a:pPr>
              <a:spcAft>
                <a:spcPts val="600"/>
              </a:spcAft>
              <a:defRPr sz="1400"/>
            </a:pPr>
            <a:r>
              <a:t>•   - Environment-specific configs</a:t>
            </a:r>
          </a:p>
          <a:p>
            <a:pPr>
              <a:spcAft>
                <a:spcPts val="600"/>
              </a:spcAft>
              <a:defRPr sz="1400"/>
            </a:pPr>
            <a:r>
              <a:t>• </a:t>
            </a:r>
          </a:p>
          <a:p>
            <a:pPr>
              <a:spcAft>
                <a:spcPts val="600"/>
              </a:spcAft>
              <a:defRPr sz="1400"/>
            </a:pPr>
            <a:r>
              <a:t>• Reliability &amp; Safety</a:t>
            </a:r>
          </a:p>
          <a:p>
            <a:pPr>
              <a:spcAft>
                <a:spcPts val="600"/>
              </a:spcAft>
              <a:defRPr sz="1400"/>
            </a:pPr>
            <a:r>
              <a:t>•   - Automated rollback on failure</a:t>
            </a:r>
          </a:p>
          <a:p>
            <a:pPr>
              <a:spcAft>
                <a:spcPts val="600"/>
              </a:spcAft>
              <a:defRPr sz="1400"/>
            </a:pPr>
            <a:r>
              <a:t>•   - Manual approval for PROD</a:t>
            </a:r>
          </a:p>
          <a:p>
            <a:pPr>
              <a:spcAft>
                <a:spcPts val="600"/>
              </a:spcAft>
              <a:defRPr sz="1400"/>
            </a:pPr>
            <a:r>
              <a:t>•   - Audit trail for all deployments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Environment Configuration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Databricks Workspace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MWAA S3 Bucket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Catalog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dbc-xxx-dev.cloud.databricks.com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project-dev-mwaa-us-east-1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pop_dev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dbc-xxx-qa.cloud.databricks.com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project-qa-mwaa-us-east-1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pop_qa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dbc-xxx-uat.cloud.databricks.com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project-uat-mwaa-us-east-1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pop_uat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dbc-xxx-stg.cloud.databricks.com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project-stg-mwaa-us-east-1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pop_stg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dbc-xxx-prod.cloud.databricks.com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project-prod-mwaa-us-east-1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pop_prod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588879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3366"/>
                </a:solidFill>
              </a:defRPr>
            </a:pPr>
            <a:r>
              <a:rPr lang="en-US" dirty="0"/>
              <a:t>Current </a:t>
            </a:r>
            <a:r>
              <a:rPr dirty="0"/>
              <a:t>CI/CD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60675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lang="en-US" dirty="0"/>
              <a:t>Current </a:t>
            </a:r>
            <a:r>
              <a:rPr dirty="0"/>
              <a:t>CI/CD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CC40DB-99C0-30E6-D3A5-F9B100E37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643062"/>
            <a:ext cx="832485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Branch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822960"/>
            <a:ext cx="7290073" cy="3693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main (protected - release tags)                                             </a:t>
            </a:r>
            <a:br>
              <a:rPr lang="en-US" dirty="0"/>
            </a:br>
            <a:r>
              <a:rPr lang="en-US" dirty="0"/>
              <a:t>    │                                                                          </a:t>
            </a:r>
            <a:br>
              <a:rPr lang="en-US" dirty="0"/>
            </a:br>
            <a:r>
              <a:rPr lang="en-US" dirty="0"/>
              <a:t>    └── prod ◀─────── Production (Release Manager approval)                   </a:t>
            </a:r>
            <a:br>
              <a:rPr lang="en-US" dirty="0"/>
            </a:br>
            <a:r>
              <a:rPr lang="en-US" dirty="0"/>
              <a:t>          │                                                                    </a:t>
            </a:r>
            <a:br>
              <a:rPr lang="en-US" dirty="0"/>
            </a:br>
            <a:r>
              <a:rPr lang="en-US" dirty="0"/>
              <a:t>          └── stg ◀─── Staging (Tech Lead approval)                           </a:t>
            </a:r>
            <a:br>
              <a:rPr lang="en-US" dirty="0"/>
            </a:br>
            <a:r>
              <a:rPr lang="en-US" dirty="0"/>
              <a:t>                │                                                              </a:t>
            </a:r>
            <a:br>
              <a:rPr lang="en-US" dirty="0"/>
            </a:br>
            <a:r>
              <a:rPr lang="en-US" dirty="0"/>
              <a:t>                └── </a:t>
            </a:r>
            <a:r>
              <a:rPr lang="en-US" dirty="0" err="1"/>
              <a:t>uat</a:t>
            </a:r>
            <a:r>
              <a:rPr lang="en-US" dirty="0"/>
              <a:t> ◀── UAT testing (Tech Lead approval)                  </a:t>
            </a:r>
            <a:br>
              <a:rPr lang="en-US" dirty="0"/>
            </a:br>
            <a:r>
              <a:rPr lang="en-US" dirty="0"/>
              <a:t>                      │                                                        </a:t>
            </a:r>
            <a:br>
              <a:rPr lang="en-US" dirty="0"/>
            </a:br>
            <a:r>
              <a:rPr lang="en-US" dirty="0"/>
              <a:t>                      └── </a:t>
            </a:r>
            <a:r>
              <a:rPr lang="en-US" dirty="0" err="1"/>
              <a:t>qa</a:t>
            </a:r>
            <a:r>
              <a:rPr lang="en-US" dirty="0"/>
              <a:t> ◀── QA integration (auto-deploy)                 </a:t>
            </a:r>
            <a:br>
              <a:rPr lang="en-US" dirty="0"/>
            </a:br>
            <a:r>
              <a:rPr lang="en-US" dirty="0"/>
              <a:t>                            │                                                  </a:t>
            </a:r>
            <a:br>
              <a:rPr lang="en-US" dirty="0"/>
            </a:br>
            <a:r>
              <a:rPr lang="en-US" dirty="0"/>
              <a:t>                            └── dev ◀── Development (auto-deploy)             </a:t>
            </a:r>
            <a:br>
              <a:rPr lang="en-US" dirty="0"/>
            </a:br>
            <a:r>
              <a:rPr lang="en-US" dirty="0"/>
              <a:t>                                  │                                            </a:t>
            </a:r>
            <a:br>
              <a:rPr lang="en-US" dirty="0"/>
            </a:br>
            <a:r>
              <a:rPr lang="en-US" dirty="0"/>
              <a:t>                                  └── feature/* ── Feature branches (PR)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9144"/>
            <a:ext cx="2239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rPr dirty="0"/>
              <a:t>Workflow Components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C47FB2-4A2C-D66D-1A59-B2B4F0826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056" y="0"/>
            <a:ext cx="67690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Deployment Pipeline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/>
            </a:pPr>
            <a:r>
              <a:t>• 1. Checkout code from triggered branch</a:t>
            </a:r>
          </a:p>
          <a:p>
            <a:pPr>
              <a:spcAft>
                <a:spcPts val="500"/>
              </a:spcAft>
              <a:defRPr sz="1400"/>
            </a:pPr>
            <a:r>
              <a:t>• 2. Set cluster configuration (environment-specific)</a:t>
            </a:r>
          </a:p>
          <a:p>
            <a:pPr>
              <a:spcAft>
                <a:spcPts val="500"/>
              </a:spcAft>
              <a:defRPr sz="1400"/>
            </a:pPr>
            <a:r>
              <a:t>• 3. Fetch Databricks API token from AWS Secrets Manager</a:t>
            </a:r>
          </a:p>
          <a:p>
            <a:pPr>
              <a:spcAft>
                <a:spcPts val="500"/>
              </a:spcAft>
              <a:defRPr sz="1400"/>
            </a:pPr>
            <a:r>
              <a:t>• 4. Backup current commit ID (for rollback capability)</a:t>
            </a:r>
          </a:p>
          <a:p>
            <a:pPr>
              <a:spcAft>
                <a:spcPts val="500"/>
              </a:spcAft>
              <a:defRPr sz="1400"/>
            </a:pPr>
            <a:r>
              <a:t>• 5. Run unit tests (conditional based on environment)</a:t>
            </a:r>
          </a:p>
          <a:p>
            <a:pPr>
              <a:spcAft>
                <a:spcPts val="500"/>
              </a:spcAft>
              <a:defRPr sz="1400"/>
            </a:pPr>
            <a:r>
              <a:t>• 6. Update Databricks workspace repo via REST API</a:t>
            </a:r>
          </a:p>
          <a:p>
            <a:pPr>
              <a:spcAft>
                <a:spcPts val="500"/>
              </a:spcAft>
              <a:defRPr sz="1400"/>
            </a:pPr>
            <a:r>
              <a:t>• 7. Execute deployment notebook (copies artifacts to MWAA S3)</a:t>
            </a:r>
          </a:p>
          <a:p>
            <a:pPr>
              <a:spcAft>
                <a:spcPts val="500"/>
              </a:spcAft>
              <a:defRPr sz="1400"/>
            </a:pPr>
            <a:r>
              <a:t>• 8. Deploy Databricks Asset Bundles (workflows, jobs)</a:t>
            </a:r>
          </a:p>
          <a:p>
            <a:pPr>
              <a:spcAft>
                <a:spcPts val="500"/>
              </a:spcAft>
              <a:defRPr sz="1400"/>
            </a:pPr>
            <a:r>
              <a:t>• 9. Verify deployment success</a:t>
            </a:r>
          </a:p>
          <a:p>
            <a:pPr>
              <a:spcAft>
                <a:spcPts val="500"/>
              </a:spcAft>
              <a:defRPr sz="1400"/>
            </a:pPr>
            <a:r>
              <a:t>• 10. Auto-rollback on failure (restore previous commit)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Approval Gates &amp; Testing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841248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82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 Tests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Manual Approval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Approvers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Optional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UAT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Tech Lead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Tech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PROD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Required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Release Manager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Security &amp; Secrets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GitHub Secrets</a:t>
            </a:r>
          </a:p>
          <a:p>
            <a:pPr>
              <a:spcAft>
                <a:spcPts val="600"/>
              </a:spcAft>
              <a:defRPr sz="1400"/>
            </a:pPr>
            <a:r>
              <a:t>•   • DATABRICKS_DEV_HOST</a:t>
            </a:r>
          </a:p>
          <a:p>
            <a:pPr>
              <a:spcAft>
                <a:spcPts val="600"/>
              </a:spcAft>
              <a:defRPr sz="1400"/>
            </a:pPr>
            <a:r>
              <a:t>•   • DATABRICKS_DEV_REPO_ID</a:t>
            </a:r>
          </a:p>
          <a:p>
            <a:pPr>
              <a:spcAft>
                <a:spcPts val="600"/>
              </a:spcAft>
              <a:defRPr sz="1400"/>
            </a:pPr>
            <a:r>
              <a:t>•   • DATABRICKS_QA_HOST</a:t>
            </a:r>
          </a:p>
          <a:p>
            <a:pPr>
              <a:spcAft>
                <a:spcPts val="600"/>
              </a:spcAft>
              <a:defRPr sz="1400"/>
            </a:pPr>
            <a:r>
              <a:t>•   • DATABRICKS_UAT_HOST</a:t>
            </a:r>
          </a:p>
          <a:p>
            <a:pPr>
              <a:spcAft>
                <a:spcPts val="600"/>
              </a:spcAft>
              <a:defRPr sz="1400"/>
            </a:pPr>
            <a:r>
              <a:t>•   • DATABRICKS_STG_HOST</a:t>
            </a:r>
          </a:p>
          <a:p>
            <a:pPr>
              <a:spcAft>
                <a:spcPts val="600"/>
              </a:spcAft>
              <a:defRPr sz="1400"/>
            </a:pPr>
            <a:r>
              <a:t>•   • DATABRICKS_PROD_HOST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AWS Secrets Manager</a:t>
            </a:r>
          </a:p>
          <a:p>
            <a:pPr>
              <a:spcAft>
                <a:spcPts val="600"/>
              </a:spcAft>
              <a:defRPr sz="1400"/>
            </a:pPr>
            <a:r>
              <a:t>•   • sa-cicd-pop-dev</a:t>
            </a:r>
          </a:p>
          <a:p>
            <a:pPr>
              <a:spcAft>
                <a:spcPts val="600"/>
              </a:spcAft>
              <a:defRPr sz="1400"/>
            </a:pPr>
            <a:r>
              <a:t>•   • sa-cicd-pop-qa</a:t>
            </a:r>
          </a:p>
          <a:p>
            <a:pPr>
              <a:spcAft>
                <a:spcPts val="600"/>
              </a:spcAft>
              <a:defRPr sz="1400"/>
            </a:pPr>
            <a:r>
              <a:t>•   • sa-cicd-pop-uat</a:t>
            </a:r>
          </a:p>
          <a:p>
            <a:pPr>
              <a:spcAft>
                <a:spcPts val="600"/>
              </a:spcAft>
              <a:defRPr sz="1400"/>
            </a:pPr>
            <a:r>
              <a:t>•   • sa-cicd-pop-stg</a:t>
            </a:r>
          </a:p>
          <a:p>
            <a:pPr>
              <a:spcAft>
                <a:spcPts val="600"/>
              </a:spcAft>
              <a:defRPr sz="1400"/>
            </a:pPr>
            <a:r>
              <a:t>•   • sa-cicd-pop-prod</a:t>
            </a:r>
          </a:p>
          <a:p>
            <a:pPr>
              <a:spcAft>
                <a:spcPts val="600"/>
              </a:spcAft>
              <a:defRPr sz="1400"/>
            </a:pPr>
            <a:r>
              <a:t>• </a:t>
            </a:r>
          </a:p>
          <a:p>
            <a:pPr>
              <a:spcAft>
                <a:spcPts val="600"/>
              </a:spcAft>
              <a:defRPr sz="1400"/>
            </a:pPr>
            <a:r>
              <a:t>• Contains: databricks-apikey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Monitoring &amp;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Monitoring</a:t>
            </a:r>
          </a:p>
          <a:p>
            <a:pPr>
              <a:spcAft>
                <a:spcPts val="600"/>
              </a:spcAft>
              <a:defRPr sz="1400"/>
            </a:pPr>
            <a:r>
              <a:t>•   • GitHub Actions dashboard</a:t>
            </a:r>
          </a:p>
          <a:p>
            <a:pPr>
              <a:spcAft>
                <a:spcPts val="600"/>
              </a:spcAft>
              <a:defRPr sz="1400"/>
            </a:pPr>
            <a:r>
              <a:t>•   • Databricks workflow runs</a:t>
            </a:r>
          </a:p>
          <a:p>
            <a:pPr>
              <a:spcAft>
                <a:spcPts val="600"/>
              </a:spcAft>
              <a:defRPr sz="1400"/>
            </a:pPr>
            <a:r>
              <a:t>•   • MWAA Airflow UI</a:t>
            </a:r>
          </a:p>
          <a:p>
            <a:pPr>
              <a:spcAft>
                <a:spcPts val="600"/>
              </a:spcAft>
              <a:defRPr sz="1400"/>
            </a:pPr>
            <a:r>
              <a:t>•   • CloudWatch logs</a:t>
            </a:r>
          </a:p>
          <a:p>
            <a:pPr>
              <a:spcAft>
                <a:spcPts val="600"/>
              </a:spcAft>
              <a:defRPr sz="1400"/>
            </a:pPr>
            <a:r>
              <a:t>• </a:t>
            </a:r>
          </a:p>
          <a:p>
            <a:pPr>
              <a:spcAft>
                <a:spcPts val="600"/>
              </a:spcAft>
              <a:defRPr sz="1400"/>
            </a:pPr>
            <a:r>
              <a:t>• Notifications</a:t>
            </a:r>
          </a:p>
          <a:p>
            <a:pPr>
              <a:spcAft>
                <a:spcPts val="600"/>
              </a:spcAft>
              <a:defRPr sz="1400"/>
            </a:pPr>
            <a:r>
              <a:t>•   • Email alerts on failure</a:t>
            </a:r>
          </a:p>
          <a:p>
            <a:pPr>
              <a:spcAft>
                <a:spcPts val="600"/>
              </a:spcAft>
              <a:defRPr sz="1400"/>
            </a:pPr>
            <a:r>
              <a:t>•   • Slack integration (optional)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• Automatic Rollback</a:t>
            </a:r>
          </a:p>
          <a:p>
            <a:pPr>
              <a:spcAft>
                <a:spcPts val="600"/>
              </a:spcAft>
              <a:defRPr sz="1400"/>
            </a:pPr>
            <a:r>
              <a:t>•   • Triggered on deploy failure</a:t>
            </a:r>
          </a:p>
          <a:p>
            <a:pPr>
              <a:spcAft>
                <a:spcPts val="600"/>
              </a:spcAft>
              <a:defRPr sz="1400"/>
            </a:pPr>
            <a:r>
              <a:t>•   • Restores previous commit</a:t>
            </a:r>
          </a:p>
          <a:p>
            <a:pPr>
              <a:spcAft>
                <a:spcPts val="600"/>
              </a:spcAft>
              <a:defRPr sz="1400"/>
            </a:pPr>
            <a:r>
              <a:t>•   • Notifies team</a:t>
            </a:r>
          </a:p>
          <a:p>
            <a:pPr>
              <a:spcAft>
                <a:spcPts val="600"/>
              </a:spcAft>
              <a:defRPr sz="1400"/>
            </a:pPr>
            <a:r>
              <a:t>• </a:t>
            </a:r>
          </a:p>
          <a:p>
            <a:pPr>
              <a:spcAft>
                <a:spcPts val="600"/>
              </a:spcAft>
              <a:defRPr sz="1400"/>
            </a:pPr>
            <a:r>
              <a:t>• Manual Rollback</a:t>
            </a:r>
          </a:p>
          <a:p>
            <a:pPr>
              <a:spcAft>
                <a:spcPts val="600"/>
              </a:spcAft>
              <a:defRPr sz="1400"/>
            </a:pPr>
            <a:r>
              <a:t>•   • Via Databricks Repos API</a:t>
            </a:r>
          </a:p>
          <a:p>
            <a:pPr>
              <a:spcAft>
                <a:spcPts val="600"/>
              </a:spcAft>
              <a:defRPr sz="1400"/>
            </a:pPr>
            <a:r>
              <a:t>•   • Git revert + push</a:t>
            </a:r>
          </a:p>
          <a:p>
            <a:pPr>
              <a:spcAft>
                <a:spcPts val="600"/>
              </a:spcAft>
              <a:defRPr sz="1400"/>
            </a:pPr>
            <a:r>
              <a:t>•   • scripts/rollback.sh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47F1-9BEC-66D4-FB4F-CE6661E5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1D769-7FBF-E54E-CB74-AB55B574A41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B2E68-43B3-44D8-9FAA-1284EC3934F1}"/>
              </a:ext>
            </a:extLst>
          </p:cNvPr>
          <p:cNvSpPr txBox="1"/>
          <p:nvPr/>
        </p:nvSpPr>
        <p:spPr>
          <a:xfrm>
            <a:off x="457200" y="228600"/>
            <a:ext cx="552939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rPr lang="it-IT" dirty="0"/>
              <a:t>Future State AI-Driven CI/CD Overview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03791DB1-B3EC-A410-782F-F844260185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41A4A4-D145-5C18-DD8A-849BC3232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288" y="1274985"/>
            <a:ext cx="9144000" cy="28267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F8690A1-C7D2-492A-78E0-DBFF646FF886}"/>
              </a:ext>
            </a:extLst>
          </p:cNvPr>
          <p:cNvSpPr/>
          <p:nvPr/>
        </p:nvSpPr>
        <p:spPr>
          <a:xfrm>
            <a:off x="323088" y="4653533"/>
            <a:ext cx="8348472" cy="14538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ADD8A-DEEC-11B0-28CC-97DEF7005D19}"/>
              </a:ext>
            </a:extLst>
          </p:cNvPr>
          <p:cNvSpPr/>
          <p:nvPr/>
        </p:nvSpPr>
        <p:spPr>
          <a:xfrm>
            <a:off x="382524" y="5355333"/>
            <a:ext cx="1709928" cy="48615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Predictive Alerts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17C048-1DB5-23F5-4A58-0CD4FB2064AD}"/>
              </a:ext>
            </a:extLst>
          </p:cNvPr>
          <p:cNvSpPr/>
          <p:nvPr/>
        </p:nvSpPr>
        <p:spPr>
          <a:xfrm>
            <a:off x="2604516" y="5343140"/>
            <a:ext cx="1709928" cy="48615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Drift detection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9F5345-42FF-9C09-0E5B-7DA228CB5EA1}"/>
              </a:ext>
            </a:extLst>
          </p:cNvPr>
          <p:cNvSpPr/>
          <p:nvPr/>
        </p:nvSpPr>
        <p:spPr>
          <a:xfrm>
            <a:off x="4591812" y="5332471"/>
            <a:ext cx="1709928" cy="48615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Cost Optimizer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B67937-3716-FBE2-75DA-30841DC6118C}"/>
              </a:ext>
            </a:extLst>
          </p:cNvPr>
          <p:cNvSpPr/>
          <p:nvPr/>
        </p:nvSpPr>
        <p:spPr>
          <a:xfrm>
            <a:off x="6631686" y="5380480"/>
            <a:ext cx="1709928" cy="48615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Self Healing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07578A-5419-012D-AABA-1AEB73DFB9EA}"/>
              </a:ext>
            </a:extLst>
          </p:cNvPr>
          <p:cNvSpPr txBox="1"/>
          <p:nvPr/>
        </p:nvSpPr>
        <p:spPr>
          <a:xfrm>
            <a:off x="2604516" y="4791293"/>
            <a:ext cx="3208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Continuous Monitoring</a:t>
            </a:r>
          </a:p>
        </p:txBody>
      </p:sp>
    </p:spTree>
    <p:extLst>
      <p:ext uri="{BB962C8B-B14F-4D97-AF65-F5344CB8AC3E}">
        <p14:creationId xmlns:p14="http://schemas.microsoft.com/office/powerpoint/2010/main" val="602487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622</Words>
  <Application>Microsoft Office PowerPoint</Application>
  <PresentationFormat>On-screen Show (4:3)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Mukesh Kumar</dc:creator>
  <cp:keywords/>
  <dc:description>generated using python-pptx</dc:description>
  <cp:lastModifiedBy>Mukesh Kumar</cp:lastModifiedBy>
  <cp:revision>3</cp:revision>
  <dcterms:created xsi:type="dcterms:W3CDTF">2013-01-27T09:14:16Z</dcterms:created>
  <dcterms:modified xsi:type="dcterms:W3CDTF">2026-05-14T02:36:02Z</dcterms:modified>
  <cp:category/>
</cp:coreProperties>
</file>