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9" r:id="rId4"/>
    <p:sldMasterId id="2147484088" r:id="rId5"/>
    <p:sldMasterId id="2147484099" r:id="rId6"/>
  </p:sldMasterIdLst>
  <p:notesMasterIdLst>
    <p:notesMasterId r:id="rId14"/>
  </p:notesMasterIdLst>
  <p:handoutMasterIdLst>
    <p:handoutMasterId r:id="rId15"/>
  </p:handoutMasterIdLst>
  <p:sldIdLst>
    <p:sldId id="2147483453" r:id="rId7"/>
    <p:sldId id="2147483639" r:id="rId8"/>
    <p:sldId id="256" r:id="rId9"/>
    <p:sldId id="257" r:id="rId10"/>
    <p:sldId id="2147483643" r:id="rId11"/>
    <p:sldId id="2147483642" r:id="rId12"/>
    <p:sldId id="214748345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84587-8492-908F-D627-8A16242654E9}" name="Mridul Basu" initials="MB" userId="S::MridulB@emids.com::9af60158-9670-4f9b-9af8-a4db022be4a6" providerId="AD"/>
  <p188:author id="{78A499F3-5124-ABF7-0A35-596274238588}" name="Rakesh Chidrawar" initials="RC" userId="S::RakeshC@emids.com::ade5a16e-27cd-4319-9100-4500cce0c8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D9F31-5DF1-4412-AC8B-339CD2D17F7C}" v="1" dt="2026-06-05T16:38:33.294"/>
    <p1510:client id="{3E6637F9-E73E-E0E8-520D-8E118BCC9BC5}" v="36" dt="2026-06-05T16:36:24.409"/>
    <p1510:client id="{68988569-1153-4E52-92C8-F561681085B0}" v="4" dt="2026-06-05T15:55:39.532"/>
    <p1510:client id="{A9F8F95F-EFA2-4F9A-BF06-8BE1B4347BE9}" v="10" dt="2026-06-05T15:48:37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253AE1-D2B7-9642-D264-BB4C3C97A6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A2934-265A-7ACD-51B8-F73AAA11CA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E20D6-7462-4702-8E20-AE41538BF43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BA78B-2A4A-312D-BE34-B61BB7E3D6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298CD-2445-663E-3C5A-FF41F900E5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FC53-AF5C-4626-8229-CD53832B0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3FD7D-141E-4958-9D62-3A5BFE8FAA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18E2D-D317-4275-80DD-F5A1F0636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3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18E2D-D317-4275-80DD-F5A1F0636D4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180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732D-9F1B-45F8-B447-DDEE818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5E8DB-85C8-EF68-9CB2-3AB276BCA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A428D-C333-D1B0-18E0-03B7E53CE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14- 12 completed and 2 are in progress(low &amp; moderate)</a:t>
            </a:r>
          </a:p>
          <a:p>
            <a:r>
              <a:rPr lang="en-US"/>
              <a:t>29 – 80% are fixed, 20% are in progress(25, 4 in progress)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EFE42-CBE8-E6EC-C86D-6353C1DF5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18E2D-D317-4275-80DD-F5A1F0636D4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63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8248-56E6-9398-C3F8-BBB1606C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40DA2-B154-84C5-1757-A98FB08F5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1DD87-8295-D424-E8B8-CE2CB7C77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19EE2-F0DD-E837-892B-45E11B344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18E2D-D317-4275-80DD-F5A1F0636D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704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2B2F-A76C-2381-F504-9819D3DE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5F040-EA39-0AA6-D091-3E5D381DA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01B9D-0C42-54E9-8FAA-A43317219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2806F-AECE-AEB1-4294-A51C86907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18E2D-D317-4275-80DD-F5A1F0636D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A5D2-B4A7-752C-9231-D39ED6335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62342-5FED-3D40-C8E1-EA5E2551E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8CF86-F0DF-86F3-97B1-5FE33F7F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D74E-A0E6-A85A-9DDF-81045C03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F6B0F-9069-6D4E-B009-4D0E669D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091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CE2B-2D24-A2CF-DB4D-05EA3B15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8F44-813D-9CCD-C866-B2C502E50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91CA-AAA5-C6A9-D3DA-6097016BA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C77C-7C0D-00E5-5D3B-BF3FEC7C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B2642-25D7-B4C6-63F1-CF820F94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2973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6DD2-00BA-B7B9-C16D-D6559D43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F952A-39A6-394F-CB3E-61D256198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BCF8D-00BD-6ABE-7A75-E1F40A16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BE7A-6E87-50E9-EA86-B22CD727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38FA-03BF-8820-61FF-1309C6EE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600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607F-D843-EF60-6C90-5D903189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270A-A27F-1832-D9D7-42BC33EA3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13C57-B0FB-6855-A9CE-DFA3E467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26CC6-9DA7-8806-2D89-BFAE593C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A8ECB-5BD3-2A09-C45E-D6102A80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3636-47B0-9434-5E7B-D904BB17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7142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84BF-CAD2-C28F-9D21-CA076036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0661-ED8B-317C-63FA-DC98C45C1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EA88A-B16D-D8CA-0CB8-79416B071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6F292-2FEF-91E0-63CA-F4667840A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82C93-70A4-66D9-FCFB-9A4EDA752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36FD3-C8B4-F68A-B648-8AE82DBA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E1E69-6557-F6DA-4D06-2C69DD24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42204-8638-234E-DDFD-D6BBDAD0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7051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6A59-DD47-F60A-30E7-D128ED87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EA4F5-B1E1-3BC2-0A33-7076EDE41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C6DBA-F9AC-3556-4329-342CBE97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F7BCA-0AF0-3728-24D9-C2123EB2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3493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7F3FD-C66B-29F1-3776-E8DFD434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BE650-60B7-64FA-6976-16D0F7D0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1036-A038-5E17-FD49-5A2FFD02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4238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16BF-3731-8781-E42B-4AA24A8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5334-754A-410D-E14B-4903731C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D67AD-73D8-6340-8BC1-840561C34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AF067-65AD-2C8B-72BA-015266E0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29AC7-59D9-66F9-11C5-C846FA4B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2DBC6-0D31-69CF-2F94-5A964B13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8500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2C52-8D12-7D7A-7E2B-7CB8EA6B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B895F-F901-B456-F589-5602BC126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1660-108A-ECDD-CF53-F91EF21F3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3EECD-83C5-A418-2715-CFDBE1CC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D63BE-B3E7-EAFC-1347-008E724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C765D-7C47-82CD-53F4-26ECDB69E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9579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83B1-9425-88AC-172C-1CBD4512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D0BD8-0AC0-8EF7-9AD2-CB56EE49A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86954-4507-E499-12D5-49C54487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D01D3-3EC4-9336-0E51-2EE92E2C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11B44-E8A0-A5E3-96CC-97B716D7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613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0817D-2524-852D-4DB7-6571AD27D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D49C-F46A-40B2-1D5E-357960E16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12909-1E74-7481-8FF8-D3731B7B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64504-48A5-1DCA-4A9B-EBAE6D71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6A137-49DD-8A04-FF9F-F0E03176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6906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89E1F-60C2-BF99-C183-926EC565A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14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26697EB-CAA6-D646-80DD-2750B99121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1289303"/>
            <a:ext cx="5696712" cy="2347031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2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FE936-A3EE-421F-8D5F-8FAD316C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063124"/>
            <a:ext cx="5696712" cy="987341"/>
          </a:xfrm>
        </p:spPr>
        <p:txBody>
          <a:bodyPr/>
          <a:lstStyle>
            <a:lvl1pPr marL="0" indent="0" algn="l">
              <a:lnSpc>
                <a:spcPts val="2880"/>
              </a:lnSpc>
              <a:spcBef>
                <a:spcPts val="0"/>
              </a:spcBef>
              <a:buNone/>
              <a:defRPr sz="1400" b="1" i="0">
                <a:solidFill>
                  <a:schemeClr val="accent5">
                    <a:lumMod val="60000"/>
                    <a:lumOff val="40000"/>
                  </a:schemeClr>
                </a:solidFill>
                <a:latin typeface="Barlow SemiBold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AA81F-060F-6A10-7585-F48A1C7DD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069600"/>
            <a:ext cx="2304344" cy="3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764FE4-EA05-A5E8-AF88-FF4F34ABD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069600"/>
            <a:ext cx="2304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61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C1812-D11F-B3B4-C515-54F92A19E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44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onten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D39F30-337C-694D-87C2-86704FE9F873}"/>
              </a:ext>
            </a:extLst>
          </p:cNvPr>
          <p:cNvSpPr/>
          <p:nvPr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A7C1B-6DE0-4CC6-AD21-30B662652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437" y="484632"/>
            <a:ext cx="7157053" cy="6858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1BC8-47C3-4622-9DF5-B851BA157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913" y="2176272"/>
            <a:ext cx="7159089" cy="38862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defRPr b="0" i="0">
                <a:latin typeface="Barlow" pitchFamily="2" charset="77"/>
              </a:defRPr>
            </a:lvl2pPr>
            <a:lvl3pPr>
              <a:defRPr b="0" i="0">
                <a:latin typeface="Barlow" pitchFamily="2" charset="77"/>
              </a:defRPr>
            </a:lvl3pPr>
            <a:lvl4pPr>
              <a:defRPr b="0" i="0">
                <a:latin typeface="Barlow" pitchFamily="2" charset="77"/>
              </a:defRPr>
            </a:lvl4pPr>
            <a:lvl5pPr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6BF4-8B5F-4781-9386-A69DD95A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F46D930-8F48-4527-879D-09982A40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867" y="1330036"/>
            <a:ext cx="7159851" cy="608302"/>
          </a:xfrm>
        </p:spPr>
        <p:txBody>
          <a:bodyPr/>
          <a:lstStyle>
            <a:lvl1pPr>
              <a:spcBef>
                <a:spcPts val="0"/>
              </a:spcBef>
              <a:defRPr lang="en-US" sz="1700" b="1" i="0" kern="1200" dirty="0">
                <a:solidFill>
                  <a:schemeClr val="bg2"/>
                </a:solidFill>
                <a:latin typeface="Barlow SemiBold" pitchFamily="2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ts val="204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36C1F9-54C0-7442-884D-267C39142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070" y="2830882"/>
            <a:ext cx="3304511" cy="3071154"/>
          </a:xfrm>
        </p:spPr>
        <p:txBody>
          <a:bodyPr/>
          <a:lstStyle>
            <a:lvl1pPr marL="0" indent="0">
              <a:buNone/>
              <a:defRPr sz="3000" i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19DFE9-ABBF-284A-9A08-BF169017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EB07-0032-5826-B02D-0B0BA1EF7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7E8CD-68E4-3461-F5A8-4DF903901738}"/>
              </a:ext>
            </a:extLst>
          </p:cNvPr>
          <p:cNvSpPr/>
          <p:nvPr userDrawn="1"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CFC95-523F-A6DD-720F-7E6DA5B51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2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5654-B2F5-924B-84AE-CBA392219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" y="6079317"/>
            <a:ext cx="2231136" cy="380307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BB9513-D3AB-5D6D-9606-58643BB6A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" y="6079317"/>
            <a:ext cx="2231136" cy="38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82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rgbClr val="63666A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7D03CC-13B7-4D1C-BA10-5EA08EDEAAC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D0359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D0359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73B11-766B-0F4A-96DF-BDBCAF1DA1A2}"/>
              </a:ext>
            </a:extLst>
          </p:cNvPr>
          <p:cNvSpPr txBox="1"/>
          <p:nvPr/>
        </p:nvSpPr>
        <p:spPr>
          <a:xfrm>
            <a:off x="10435590" y="65379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D1191F9-FBF3-9D4C-9952-5387EAFF2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D0359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Copyright Emids 2025       |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73301-7F34-6F7D-5339-4548C6E1014E}"/>
              </a:ext>
            </a:extLst>
          </p:cNvPr>
          <p:cNvSpPr txBox="1"/>
          <p:nvPr userDrawn="1"/>
        </p:nvSpPr>
        <p:spPr>
          <a:xfrm>
            <a:off x="10435590" y="65379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621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26697EB-CAA6-D646-80DD-2750B99121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1289303"/>
            <a:ext cx="5696712" cy="2347031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2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FE936-A3EE-421F-8D5F-8FAD316C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063124"/>
            <a:ext cx="5696712" cy="987341"/>
          </a:xfrm>
        </p:spPr>
        <p:txBody>
          <a:bodyPr/>
          <a:lstStyle>
            <a:lvl1pPr marL="0" indent="0" algn="l">
              <a:lnSpc>
                <a:spcPts val="2880"/>
              </a:lnSpc>
              <a:spcBef>
                <a:spcPts val="0"/>
              </a:spcBef>
              <a:buNone/>
              <a:defRPr sz="1400" b="1" i="0">
                <a:solidFill>
                  <a:schemeClr val="accent5">
                    <a:lumMod val="60000"/>
                    <a:lumOff val="40000"/>
                  </a:schemeClr>
                </a:solidFill>
                <a:latin typeface="Barlow SemiBold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AA81F-060F-6A10-7585-F48A1C7DD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069600"/>
            <a:ext cx="2304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5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198240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AAB7E-6AA3-37D8-A0C3-5FFD1C2DF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69506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D39F30-337C-694D-87C2-86704FE9F873}"/>
              </a:ext>
            </a:extLst>
          </p:cNvPr>
          <p:cNvSpPr/>
          <p:nvPr userDrawn="1"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A7C1B-6DE0-4CC6-AD21-30B662652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437" y="484632"/>
            <a:ext cx="7157053" cy="6858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1BC8-47C3-4622-9DF5-B851BA157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913" y="2176272"/>
            <a:ext cx="7159089" cy="38862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defRPr b="0" i="0">
                <a:latin typeface="Barlow" pitchFamily="2" charset="77"/>
              </a:defRPr>
            </a:lvl2pPr>
            <a:lvl3pPr>
              <a:defRPr b="0" i="0">
                <a:latin typeface="Barlow" pitchFamily="2" charset="77"/>
              </a:defRPr>
            </a:lvl3pPr>
            <a:lvl4pPr>
              <a:defRPr b="0" i="0">
                <a:latin typeface="Barlow" pitchFamily="2" charset="77"/>
              </a:defRPr>
            </a:lvl4pPr>
            <a:lvl5pPr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6BF4-8B5F-4781-9386-A69DD95A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F46D930-8F48-4527-879D-09982A40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867" y="1330036"/>
            <a:ext cx="7159851" cy="608302"/>
          </a:xfrm>
        </p:spPr>
        <p:txBody>
          <a:bodyPr/>
          <a:lstStyle>
            <a:lvl1pPr>
              <a:spcBef>
                <a:spcPts val="0"/>
              </a:spcBef>
              <a:defRPr lang="en-US" sz="1700" b="1" i="0" kern="1200" dirty="0">
                <a:solidFill>
                  <a:schemeClr val="bg2"/>
                </a:solidFill>
                <a:latin typeface="Barlow SemiBold" pitchFamily="2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ts val="204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36C1F9-54C0-7442-884D-267C39142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070" y="2830882"/>
            <a:ext cx="3304511" cy="3071154"/>
          </a:xfrm>
        </p:spPr>
        <p:txBody>
          <a:bodyPr/>
          <a:lstStyle>
            <a:lvl1pPr marL="0" indent="0">
              <a:buNone/>
              <a:defRPr sz="3000" i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19DFE9-ABBF-284A-9A08-BF169017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EB07-0032-5826-B02D-0B0BA1EF7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4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26697EB-CAA6-D646-80DD-2750B99121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1289303"/>
            <a:ext cx="5696712" cy="2347031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2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FE936-A3EE-421F-8D5F-8FAD316C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063124"/>
            <a:ext cx="5696712" cy="987341"/>
          </a:xfrm>
        </p:spPr>
        <p:txBody>
          <a:bodyPr/>
          <a:lstStyle>
            <a:lvl1pPr marL="0" indent="0" algn="l">
              <a:lnSpc>
                <a:spcPts val="2880"/>
              </a:lnSpc>
              <a:spcBef>
                <a:spcPts val="0"/>
              </a:spcBef>
              <a:buNone/>
              <a:defRPr sz="1400" b="1" i="0">
                <a:solidFill>
                  <a:schemeClr val="accent5">
                    <a:lumMod val="60000"/>
                    <a:lumOff val="40000"/>
                  </a:schemeClr>
                </a:solidFill>
                <a:latin typeface="Barlow SemiBold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AA81F-060F-6A10-7585-F48A1C7DD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069600"/>
            <a:ext cx="2304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05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591293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D39F30-337C-694D-87C2-86704FE9F873}"/>
              </a:ext>
            </a:extLst>
          </p:cNvPr>
          <p:cNvSpPr/>
          <p:nvPr userDrawn="1"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A7C1B-6DE0-4CC6-AD21-30B662652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437" y="484632"/>
            <a:ext cx="7157053" cy="6858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1BC8-47C3-4622-9DF5-B851BA157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913" y="2176272"/>
            <a:ext cx="7159089" cy="38862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defRPr b="0" i="0">
                <a:latin typeface="Barlow" pitchFamily="2" charset="77"/>
              </a:defRPr>
            </a:lvl2pPr>
            <a:lvl3pPr>
              <a:defRPr b="0" i="0">
                <a:latin typeface="Barlow" pitchFamily="2" charset="77"/>
              </a:defRPr>
            </a:lvl3pPr>
            <a:lvl4pPr>
              <a:defRPr b="0" i="0">
                <a:latin typeface="Barlow" pitchFamily="2" charset="77"/>
              </a:defRPr>
            </a:lvl4pPr>
            <a:lvl5pPr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6BF4-8B5F-4781-9386-A69DD95A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F46D930-8F48-4527-879D-09982A40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867" y="1330036"/>
            <a:ext cx="7159851" cy="608302"/>
          </a:xfrm>
        </p:spPr>
        <p:txBody>
          <a:bodyPr/>
          <a:lstStyle>
            <a:lvl1pPr>
              <a:spcBef>
                <a:spcPts val="0"/>
              </a:spcBef>
              <a:defRPr lang="en-US" sz="1700" b="1" i="0" kern="1200" dirty="0">
                <a:solidFill>
                  <a:schemeClr val="bg2"/>
                </a:solidFill>
                <a:latin typeface="Barlow SemiBold" pitchFamily="2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ts val="204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36C1F9-54C0-7442-884D-267C39142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070" y="2830882"/>
            <a:ext cx="3304511" cy="3071154"/>
          </a:xfrm>
        </p:spPr>
        <p:txBody>
          <a:bodyPr/>
          <a:lstStyle>
            <a:lvl1pPr marL="0" indent="0">
              <a:buNone/>
              <a:defRPr sz="3000" i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19DFE9-ABBF-284A-9A08-BF169017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EB07-0032-5826-B02D-0B0BA1EF7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3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AAB7E-6AA3-37D8-A0C3-5FFD1C2DF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57406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5654-B2F5-924B-84AE-CBA392219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" y="6079317"/>
            <a:ext cx="2231136" cy="380307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716884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rgbClr val="63666A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7D03CC-13B7-4D1C-BA10-5EA08EDEAAC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D0359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D0359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73B11-766B-0F4A-96DF-BDBCAF1DA1A2}"/>
              </a:ext>
            </a:extLst>
          </p:cNvPr>
          <p:cNvSpPr txBox="1"/>
          <p:nvPr userDrawn="1"/>
        </p:nvSpPr>
        <p:spPr>
          <a:xfrm>
            <a:off x="10435590" y="65379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D1191F9-FBF3-9D4C-9952-5387EAFF2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D0359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17391439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26697EB-CAA6-D646-80DD-2750B99121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1289303"/>
            <a:ext cx="5696712" cy="2347031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2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FE936-A3EE-421F-8D5F-8FAD316C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063124"/>
            <a:ext cx="5696712" cy="987341"/>
          </a:xfrm>
        </p:spPr>
        <p:txBody>
          <a:bodyPr/>
          <a:lstStyle>
            <a:lvl1pPr marL="0" indent="0" algn="l">
              <a:lnSpc>
                <a:spcPts val="2880"/>
              </a:lnSpc>
              <a:spcBef>
                <a:spcPts val="0"/>
              </a:spcBef>
              <a:buNone/>
              <a:defRPr sz="1400" b="1" i="0">
                <a:solidFill>
                  <a:schemeClr val="accent5">
                    <a:lumMod val="60000"/>
                    <a:lumOff val="40000"/>
                  </a:schemeClr>
                </a:solidFill>
                <a:latin typeface="Barlow SemiBold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F02B091-2BA2-C026-1B5F-F5F00F8493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" y="5967347"/>
            <a:ext cx="2253168" cy="3886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C8805A-CA4F-4A12-9374-3A22561163E0}"/>
              </a:ext>
            </a:extLst>
          </p:cNvPr>
          <p:cNvCxnSpPr>
            <a:cxnSpLocks/>
          </p:cNvCxnSpPr>
          <p:nvPr/>
        </p:nvCxnSpPr>
        <p:spPr>
          <a:xfrm>
            <a:off x="3019229" y="5967347"/>
            <a:ext cx="0" cy="61213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70B93591-8DBE-E2FB-A790-717C436AD5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4463" y="5865734"/>
            <a:ext cx="2408191" cy="5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475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07954D-BE82-95F3-09D4-DACA841F4F97}"/>
              </a:ext>
            </a:extLst>
          </p:cNvPr>
          <p:cNvGrpSpPr/>
          <p:nvPr userDrawn="1"/>
        </p:nvGrpSpPr>
        <p:grpSpPr>
          <a:xfrm>
            <a:off x="386721" y="6476562"/>
            <a:ext cx="2242180" cy="176779"/>
            <a:chOff x="386721" y="6476562"/>
            <a:chExt cx="2242180" cy="17677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B105F0D-D022-D105-D263-1408556F33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6721" y="6504768"/>
              <a:ext cx="697542" cy="12031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AD3E054-CB88-ADB3-1290-85362149A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3673" y="6476562"/>
              <a:ext cx="1185228" cy="176779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FF7A836-D25B-E9CF-7990-86D964A1E3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44986" y="6478490"/>
              <a:ext cx="0" cy="17292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093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D39F30-337C-694D-87C2-86704FE9F873}"/>
              </a:ext>
            </a:extLst>
          </p:cNvPr>
          <p:cNvSpPr/>
          <p:nvPr userDrawn="1"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A7C1B-6DE0-4CC6-AD21-30B662652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437" y="484632"/>
            <a:ext cx="7157053" cy="685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1BC8-47C3-4622-9DF5-B851BA157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913" y="2176272"/>
            <a:ext cx="7159089" cy="38862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defRPr b="0" i="0">
                <a:latin typeface="Barlow" pitchFamily="2" charset="77"/>
              </a:defRPr>
            </a:lvl2pPr>
            <a:lvl3pPr>
              <a:defRPr b="0" i="0">
                <a:latin typeface="Barlow" pitchFamily="2" charset="77"/>
              </a:defRPr>
            </a:lvl3pPr>
            <a:lvl4pPr>
              <a:defRPr b="0" i="0">
                <a:latin typeface="Barlow" pitchFamily="2" charset="77"/>
              </a:defRPr>
            </a:lvl4pPr>
            <a:lvl5pPr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6BF4-8B5F-4781-9386-A69DD95A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F46D930-8F48-4527-879D-09982A40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867" y="1330036"/>
            <a:ext cx="7159851" cy="608302"/>
          </a:xfrm>
        </p:spPr>
        <p:txBody>
          <a:bodyPr/>
          <a:lstStyle>
            <a:lvl1pPr>
              <a:spcBef>
                <a:spcPts val="0"/>
              </a:spcBef>
              <a:defRPr lang="en-US" sz="1700" b="1" i="0" kern="1200" dirty="0">
                <a:solidFill>
                  <a:schemeClr val="bg2"/>
                </a:solidFill>
                <a:latin typeface="Barlow SemiBold" pitchFamily="2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ts val="204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36C1F9-54C0-7442-884D-267C39142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070" y="2830882"/>
            <a:ext cx="3304511" cy="3071154"/>
          </a:xfrm>
        </p:spPr>
        <p:txBody>
          <a:bodyPr/>
          <a:lstStyle>
            <a:lvl1pPr marL="0" indent="0">
              <a:buNone/>
              <a:defRPr sz="3000" i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19DFE9-ABBF-284A-9A08-BF169017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EB07-0032-5826-B02D-0B0BA1EF7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22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128" name="Graphic 127">
            <a:extLst>
              <a:ext uri="{FF2B5EF4-FFF2-40B4-BE49-F238E27FC236}">
                <a16:creationId xmlns:a16="http://schemas.microsoft.com/office/drawing/2014/main" id="{DCE10E9A-368F-0A4B-A14A-EDAE7A6220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721" y="6504768"/>
            <a:ext cx="697542" cy="120310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396CCC6F-0A27-7A68-5047-DEE06D27F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673" y="6476562"/>
            <a:ext cx="1185228" cy="176779"/>
          </a:xfrm>
          <a:prstGeom prst="rect">
            <a:avLst/>
          </a:pr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7C3E13E-00B7-4755-2A95-75B91E43DE51}"/>
              </a:ext>
            </a:extLst>
          </p:cNvPr>
          <p:cNvCxnSpPr>
            <a:cxnSpLocks/>
          </p:cNvCxnSpPr>
          <p:nvPr userDrawn="1"/>
        </p:nvCxnSpPr>
        <p:spPr>
          <a:xfrm>
            <a:off x="1244986" y="6478490"/>
            <a:ext cx="0" cy="17292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6946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91F43B-1F56-3F0A-661D-DED51B57E9B8}"/>
              </a:ext>
            </a:extLst>
          </p:cNvPr>
          <p:cNvCxnSpPr>
            <a:cxnSpLocks/>
          </p:cNvCxnSpPr>
          <p:nvPr/>
        </p:nvCxnSpPr>
        <p:spPr>
          <a:xfrm>
            <a:off x="3019229" y="5967347"/>
            <a:ext cx="0" cy="61213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E798116-385B-D52A-8E1A-B4DB065B3A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" y="6079332"/>
            <a:ext cx="2253168" cy="38861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8B2EC1E-95A8-2D5E-2DC9-5C6F258932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631" y="5968039"/>
            <a:ext cx="2408191" cy="5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624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erlay">
            <a:extLst>
              <a:ext uri="{FF2B5EF4-FFF2-40B4-BE49-F238E27FC236}">
                <a16:creationId xmlns:a16="http://schemas.microsoft.com/office/drawing/2014/main" id="{865613C7-33DB-5DC5-79EC-8835AAB0B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9" cy="37306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0E6B9A3-B2F5-8808-2354-36815541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050" y="6384035"/>
            <a:ext cx="223953" cy="36576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25976D-96DF-3AB4-D243-C969396D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5960808-18ED-DF69-A66B-AB63B1E03F1B}"/>
              </a:ext>
            </a:extLst>
          </p:cNvPr>
          <p:cNvGrpSpPr/>
          <p:nvPr userDrawn="1"/>
        </p:nvGrpSpPr>
        <p:grpSpPr>
          <a:xfrm>
            <a:off x="1245300" y="6477392"/>
            <a:ext cx="1382002" cy="176384"/>
            <a:chOff x="1245300" y="6477392"/>
            <a:chExt cx="1382002" cy="17638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1DCCD8-D1AC-015A-322D-B551D4729ED8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00" y="6479123"/>
              <a:ext cx="0" cy="172922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95455975-8912-D568-032B-4445911200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44730" y="6477392"/>
              <a:ext cx="1182572" cy="176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79906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A8DCF0A-2BBE-8BA5-CF2A-4E4054E7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050" y="6384035"/>
            <a:ext cx="223953" cy="36576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DB4551-8A90-FB6B-0765-0EF18F265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6858022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1827253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AAB7E-6AA3-37D8-A0C3-5FFD1C2DF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2604725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5654-B2F5-924B-84AE-CBA392219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" y="6079317"/>
            <a:ext cx="2231136" cy="380307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073796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ver Slide">
    <p:bg>
      <p:bgPr>
        <a:solidFill>
          <a:srgbClr val="0095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26697EB-CAA6-D646-80DD-2750B99121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1289303"/>
            <a:ext cx="5696712" cy="2347031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2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FE936-A3EE-421F-8D5F-8FAD316C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063124"/>
            <a:ext cx="5696712" cy="987341"/>
          </a:xfrm>
        </p:spPr>
        <p:txBody>
          <a:bodyPr/>
          <a:lstStyle>
            <a:lvl1pPr marL="0" indent="0" algn="l">
              <a:lnSpc>
                <a:spcPts val="2880"/>
              </a:lnSpc>
              <a:spcBef>
                <a:spcPts val="0"/>
              </a:spcBef>
              <a:buNone/>
              <a:defRPr sz="1400" b="1" i="0">
                <a:solidFill>
                  <a:schemeClr val="accent5">
                    <a:lumMod val="60000"/>
                    <a:lumOff val="40000"/>
                  </a:schemeClr>
                </a:solidFill>
                <a:latin typeface="Barlow SemiBold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F02B091-2BA2-C026-1B5F-F5F00F8493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" y="6079332"/>
            <a:ext cx="2253168" cy="3886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C8805A-CA4F-4A12-9374-3A22561163E0}"/>
              </a:ext>
            </a:extLst>
          </p:cNvPr>
          <p:cNvCxnSpPr>
            <a:cxnSpLocks/>
          </p:cNvCxnSpPr>
          <p:nvPr/>
        </p:nvCxnSpPr>
        <p:spPr>
          <a:xfrm>
            <a:off x="3019229" y="5967347"/>
            <a:ext cx="0" cy="61213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70B93591-8DBE-E2FB-A790-717C436AD5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631" y="5968039"/>
            <a:ext cx="2408191" cy="5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03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07954D-BE82-95F3-09D4-DACA841F4F97}"/>
              </a:ext>
            </a:extLst>
          </p:cNvPr>
          <p:cNvGrpSpPr/>
          <p:nvPr userDrawn="1"/>
        </p:nvGrpSpPr>
        <p:grpSpPr>
          <a:xfrm>
            <a:off x="386721" y="6476562"/>
            <a:ext cx="2242180" cy="176779"/>
            <a:chOff x="386721" y="6476562"/>
            <a:chExt cx="2242180" cy="17677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B105F0D-D022-D105-D263-1408556F33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6721" y="6504768"/>
              <a:ext cx="697542" cy="12031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AD3E054-CB88-ADB3-1290-85362149A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3673" y="6476562"/>
              <a:ext cx="1185228" cy="176779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FF7A836-D25B-E9CF-7990-86D964A1E3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44986" y="6478490"/>
              <a:ext cx="0" cy="172922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58409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D39F30-337C-694D-87C2-86704FE9F873}"/>
              </a:ext>
            </a:extLst>
          </p:cNvPr>
          <p:cNvSpPr/>
          <p:nvPr userDrawn="1"/>
        </p:nvSpPr>
        <p:spPr>
          <a:xfrm>
            <a:off x="0" y="0"/>
            <a:ext cx="4239570" cy="6858000"/>
          </a:xfrm>
          <a:prstGeom prst="rect">
            <a:avLst/>
          </a:prstGeom>
          <a:solidFill>
            <a:srgbClr val="009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A7C1B-6DE0-4CC6-AD21-30B662652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437" y="484632"/>
            <a:ext cx="7157053" cy="685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1BC8-47C3-4622-9DF5-B851BA157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8913" y="2176272"/>
            <a:ext cx="7159089" cy="388620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defRPr b="0" i="0">
                <a:latin typeface="Barlow" pitchFamily="2" charset="77"/>
              </a:defRPr>
            </a:lvl2pPr>
            <a:lvl3pPr>
              <a:defRPr b="0" i="0">
                <a:latin typeface="Barlow" pitchFamily="2" charset="77"/>
              </a:defRPr>
            </a:lvl3pPr>
            <a:lvl4pPr>
              <a:defRPr b="0" i="0">
                <a:latin typeface="Barlow" pitchFamily="2" charset="77"/>
              </a:defRPr>
            </a:lvl4pPr>
            <a:lvl5pPr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6BF4-8B5F-4781-9386-A69DD95A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F46D930-8F48-4527-879D-09982A40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867" y="1330036"/>
            <a:ext cx="7159851" cy="608302"/>
          </a:xfrm>
        </p:spPr>
        <p:txBody>
          <a:bodyPr/>
          <a:lstStyle>
            <a:lvl1pPr>
              <a:spcBef>
                <a:spcPts val="0"/>
              </a:spcBef>
              <a:defRPr lang="en-US" sz="1700" b="1" i="0" kern="1200" dirty="0">
                <a:solidFill>
                  <a:schemeClr val="bg2"/>
                </a:solidFill>
                <a:latin typeface="Barlow SemiBold" pitchFamily="2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ts val="204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36C1F9-54C0-7442-884D-267C39142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070" y="2830882"/>
            <a:ext cx="3304511" cy="3071154"/>
          </a:xfrm>
        </p:spPr>
        <p:txBody>
          <a:bodyPr/>
          <a:lstStyle>
            <a:lvl1pPr marL="0" indent="0">
              <a:buNone/>
              <a:defRPr sz="3000" i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719DFE9-ABBF-284A-9A08-BF169017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2EB07-0032-5826-B02D-0B0BA1EF7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33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and Content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128" name="Graphic 127">
            <a:extLst>
              <a:ext uri="{FF2B5EF4-FFF2-40B4-BE49-F238E27FC236}">
                <a16:creationId xmlns:a16="http://schemas.microsoft.com/office/drawing/2014/main" id="{DCE10E9A-368F-0A4B-A14A-EDAE7A6220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721" y="6504768"/>
            <a:ext cx="697542" cy="120310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396CCC6F-0A27-7A68-5047-DEE06D27F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673" y="6476562"/>
            <a:ext cx="1185228" cy="176779"/>
          </a:xfrm>
          <a:prstGeom prst="rect">
            <a:avLst/>
          </a:pr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7C3E13E-00B7-4755-2A95-75B91E43DE51}"/>
              </a:ext>
            </a:extLst>
          </p:cNvPr>
          <p:cNvCxnSpPr>
            <a:cxnSpLocks/>
          </p:cNvCxnSpPr>
          <p:nvPr userDrawn="1"/>
        </p:nvCxnSpPr>
        <p:spPr>
          <a:xfrm>
            <a:off x="1244986" y="6478490"/>
            <a:ext cx="0" cy="17292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9429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hank You Slide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91F43B-1F56-3F0A-661D-DED51B57E9B8}"/>
              </a:ext>
            </a:extLst>
          </p:cNvPr>
          <p:cNvCxnSpPr>
            <a:cxnSpLocks/>
          </p:cNvCxnSpPr>
          <p:nvPr/>
        </p:nvCxnSpPr>
        <p:spPr>
          <a:xfrm>
            <a:off x="3019229" y="5967347"/>
            <a:ext cx="0" cy="61213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E798116-385B-D52A-8E1A-B4DB065B3A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" y="6079332"/>
            <a:ext cx="2253168" cy="38861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8B2EC1E-95A8-2D5E-2DC9-5C6F258932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631" y="5968039"/>
            <a:ext cx="2408191" cy="59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922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erlay">
            <a:extLst>
              <a:ext uri="{FF2B5EF4-FFF2-40B4-BE49-F238E27FC236}">
                <a16:creationId xmlns:a16="http://schemas.microsoft.com/office/drawing/2014/main" id="{865613C7-33DB-5DC5-79EC-8835AAB0B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9" cy="37306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en-US" dirty="0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0E6B9A3-B2F5-8808-2354-36815541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050" y="6384035"/>
            <a:ext cx="223953" cy="36576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25976D-96DF-3AB4-D243-C969396D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5960808-18ED-DF69-A66B-AB63B1E03F1B}"/>
              </a:ext>
            </a:extLst>
          </p:cNvPr>
          <p:cNvGrpSpPr/>
          <p:nvPr userDrawn="1"/>
        </p:nvGrpSpPr>
        <p:grpSpPr>
          <a:xfrm>
            <a:off x="1245300" y="6477392"/>
            <a:ext cx="1382002" cy="176384"/>
            <a:chOff x="1245300" y="6477392"/>
            <a:chExt cx="1382002" cy="17638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1DCCD8-D1AC-015A-322D-B551D4729ED8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00" y="6479123"/>
              <a:ext cx="0" cy="172922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95455975-8912-D568-032B-4445911200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44730" y="6477392"/>
              <a:ext cx="1182572" cy="176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08210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>
                <a:solidFill>
                  <a:srgbClr val="63666A"/>
                </a:solidFill>
                <a:latin typeface="Barlow" panose="00000500000000000000" pitchFamily="2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Barlow" pitchFamily="2" charset="77"/>
              </a:defRPr>
            </a:lvl1pPr>
            <a:lvl2pPr>
              <a:buSzPct val="130000"/>
              <a:defRPr b="0" i="0">
                <a:latin typeface="Barlow" pitchFamily="2" charset="77"/>
              </a:defRPr>
            </a:lvl2pPr>
            <a:lvl3pPr>
              <a:buSzPct val="130000"/>
              <a:defRPr b="0" i="0">
                <a:latin typeface="Barlow" pitchFamily="2" charset="77"/>
              </a:defRPr>
            </a:lvl3pPr>
            <a:lvl4pPr>
              <a:buSzPct val="130000"/>
              <a:defRPr b="0" i="0">
                <a:latin typeface="Barlow" pitchFamily="2" charset="77"/>
              </a:defRPr>
            </a:lvl4pPr>
            <a:lvl5pPr>
              <a:buSzPct val="130000"/>
              <a:defRPr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052AB9-A6C2-4D7F-B678-73278BC5D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146" y="1325880"/>
            <a:ext cx="11402568" cy="608302"/>
          </a:xfrm>
        </p:spPr>
        <p:txBody>
          <a:bodyPr/>
          <a:lstStyle>
            <a:lvl1pPr>
              <a:lnSpc>
                <a:spcPts val="2040"/>
              </a:lnSpc>
              <a:defRPr sz="1700" b="1" i="0">
                <a:solidFill>
                  <a:schemeClr val="bg2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A8DCF0A-2BBE-8BA5-CF2A-4E4054E7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050" y="6384035"/>
            <a:ext cx="223953" cy="365760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DB4551-8A90-FB6B-0765-0EF18F265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17229981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58D31-9DDD-AF57-4184-7F29D6BC5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00" y="6505200"/>
            <a:ext cx="705446" cy="1188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61B97B-6D1F-9540-9482-434B1FC9C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DFDB0-F7E9-4258-9F05-988025C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7" y="1527281"/>
            <a:ext cx="6050763" cy="4474273"/>
          </a:xfrm>
        </p:spPr>
        <p:txBody>
          <a:bodyPr/>
          <a:lstStyle>
            <a:lvl1pPr marL="228600" indent="-228600">
              <a:lnSpc>
                <a:spcPts val="26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  <a:tabLst/>
              <a:defRPr sz="2200" b="0" i="0">
                <a:solidFill>
                  <a:schemeClr val="bg1"/>
                </a:solidFill>
                <a:latin typeface="Barlow" pitchFamily="2" charset="77"/>
              </a:defRPr>
            </a:lvl1pPr>
            <a:lvl2pPr marL="6858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2pPr>
            <a:lvl3pPr marL="9191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3pPr>
            <a:lvl4pPr marL="1143000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4pPr>
            <a:lvl5pPr marL="1376363" indent="-457200">
              <a:spcAft>
                <a:spcPts val="1200"/>
              </a:spcAft>
              <a:buSzPct val="130000"/>
              <a:buFont typeface="+mj-lt"/>
              <a:buAutoNum type="arabicPeriod"/>
              <a:defRPr sz="2200" b="0" i="0">
                <a:latin typeface="Barlow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AF9F56-9D56-0445-9109-D84D9A64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42580570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CB7-5E79-426D-81E3-C2EAB67C9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940B-E268-4978-BFB0-38ADD302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A76A9F-F4B7-5D46-AFE8-2114EED59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AAB7E-6AA3-37D8-A0C3-5FFD1C2DF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43" y="6505200"/>
            <a:ext cx="696959" cy="1188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186327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hank You Slide">
    <p:bg>
      <p:bgPr>
        <a:solidFill>
          <a:srgbClr val="009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CF26-93D6-479B-A6D2-2B8DC11E88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192" y="2122935"/>
            <a:ext cx="5696712" cy="965102"/>
          </a:xfrm>
        </p:spPr>
        <p:txBody>
          <a:bodyPr anchor="t" anchorCtr="0"/>
          <a:lstStyle>
            <a:lvl1pPr algn="l">
              <a:lnSpc>
                <a:spcPts val="5400"/>
              </a:lnSpc>
              <a:defRPr sz="4500" b="0" i="0">
                <a:solidFill>
                  <a:schemeClr val="bg1"/>
                </a:solidFill>
                <a:latin typeface="Barlow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5654-B2F5-924B-84AE-CBA392219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" y="6079317"/>
            <a:ext cx="2231136" cy="380307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9B07D73F-E923-7E46-B794-3843441978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8160" y="0"/>
            <a:ext cx="786384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710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73252-3D30-3D5D-CA1F-EE75C00B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0989F-19DF-CFDA-CD32-17B2A11E9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7840-DF92-D180-D45B-0391DA344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5D2FA-5287-4302-A49E-FA97B59EC7E6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D08A-F9F4-427D-2012-37CBC48E3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75C6E-D8F6-680B-C951-24D7ED57A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696C81-28AB-D81B-9699-2A04F064645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" y="6505509"/>
            <a:ext cx="705445" cy="11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C6D1B9-7864-1EE1-C9AA-51770B9F7D21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" y="6505509"/>
            <a:ext cx="705445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9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3" r:id="rId12"/>
    <p:sldLayoutId id="2147484027" r:id="rId13"/>
    <p:sldLayoutId id="2147484028" r:id="rId14"/>
    <p:sldLayoutId id="2147484029" r:id="rId15"/>
    <p:sldLayoutId id="2147484031" r:id="rId16"/>
    <p:sldLayoutId id="2147484032" r:id="rId17"/>
    <p:sldLayoutId id="2147484033" r:id="rId18"/>
    <p:sldLayoutId id="2147484035" r:id="rId19"/>
    <p:sldLayoutId id="2147484036" r:id="rId20"/>
    <p:sldLayoutId id="2147484037" r:id="rId21"/>
    <p:sldLayoutId id="2147484039" r:id="rId22"/>
    <p:sldLayoutId id="2147484040" r:id="rId23"/>
    <p:sldLayoutId id="2147484041" r:id="rId24"/>
    <p:sldLayoutId id="2147484042" r:id="rId25"/>
    <p:sldLayoutId id="2147484043" r:id="rId26"/>
    <p:sldLayoutId id="2147484044" r:id="rId2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8B304-C758-CA9A-FA68-DC9E408A12B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" y="6505509"/>
            <a:ext cx="705445" cy="1188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82F96-EDE3-4908-95D2-883A7514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6" y="483216"/>
            <a:ext cx="11402568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EFFC0-E312-49D0-81DD-1C86D57BE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137" y="2156538"/>
            <a:ext cx="11402567" cy="3904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7BFF-BE8E-4255-A2BA-9540F7B83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4050" y="6384035"/>
            <a:ext cx="223953" cy="36576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F28150-3D88-BC49-B160-2225DFE3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386666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</p:sldLayoutIdLst>
  <p:hf hdr="0" dt="0"/>
  <p:txStyles>
    <p:titleStyle>
      <a:lvl1pPr algn="l" defTabSz="914400" rtl="0" eaLnBrk="1" latinLnBrk="0" hangingPunct="1">
        <a:lnSpc>
          <a:spcPts val="3400"/>
        </a:lnSpc>
        <a:spcBef>
          <a:spcPct val="0"/>
        </a:spcBef>
        <a:buNone/>
        <a:defRPr lang="en-US" sz="3600" b="0" i="0" kern="1200">
          <a:solidFill>
            <a:srgbClr val="63666A"/>
          </a:solidFill>
          <a:latin typeface="Barlow" panose="000005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4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2pPr>
      <a:lvl3pPr marL="51435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3pPr>
      <a:lvl4pPr marL="6826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56">
          <p15:clr>
            <a:srgbClr val="F26B43"/>
          </p15:clr>
        </p15:guide>
        <p15:guide id="2" pos="3624">
          <p15:clr>
            <a:srgbClr val="F26B43"/>
          </p15:clr>
        </p15:guide>
        <p15:guide id="3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8B304-C758-CA9A-FA68-DC9E408A12B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800" y="6505509"/>
            <a:ext cx="705445" cy="1188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82F96-EDE3-4908-95D2-883A7514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6" y="483216"/>
            <a:ext cx="11402568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EFFC0-E312-49D0-81DD-1C86D57BE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137" y="2156538"/>
            <a:ext cx="11402567" cy="3904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7BFF-BE8E-4255-A2BA-9540F7B83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4050" y="6384035"/>
            <a:ext cx="223953" cy="36576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Barlow" pitchFamily="2" charset="77"/>
              </a:defRPr>
            </a:lvl1pPr>
          </a:lstStyle>
          <a:p>
            <a:fld id="{E67D03CC-13B7-4D1C-BA10-5EA08EDEAA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F28150-3D88-BC49-B160-2225DFE3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756648" y="6382512"/>
            <a:ext cx="1828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Emids 2025       |</a:t>
            </a:r>
          </a:p>
        </p:txBody>
      </p:sp>
    </p:spTree>
    <p:extLst>
      <p:ext uri="{BB962C8B-B14F-4D97-AF65-F5344CB8AC3E}">
        <p14:creationId xmlns:p14="http://schemas.microsoft.com/office/powerpoint/2010/main" val="334964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</p:sldLayoutIdLst>
  <p:hf hdr="0" dt="0"/>
  <p:txStyles>
    <p:titleStyle>
      <a:lvl1pPr algn="l" defTabSz="914400" rtl="0" eaLnBrk="1" latinLnBrk="0" hangingPunct="1">
        <a:lnSpc>
          <a:spcPts val="3400"/>
        </a:lnSpc>
        <a:spcBef>
          <a:spcPct val="0"/>
        </a:spcBef>
        <a:buNone/>
        <a:defRPr lang="en-US" sz="3600" b="0" i="0" kern="1200">
          <a:solidFill>
            <a:srgbClr val="63666A"/>
          </a:solidFill>
          <a:latin typeface="Barlow" panose="00000500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4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2pPr>
      <a:lvl3pPr marL="51435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3pPr>
      <a:lvl4pPr marL="6826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00" b="0" i="0" kern="1200">
          <a:solidFill>
            <a:schemeClr val="tx2"/>
          </a:solidFill>
          <a:latin typeface="Barlow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56">
          <p15:clr>
            <a:srgbClr val="F26B43"/>
          </p15:clr>
        </p15:guide>
        <p15:guide id="2" pos="3624">
          <p15:clr>
            <a:srgbClr val="F26B43"/>
          </p15:clr>
        </p15:guide>
        <p15:guide id="3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FB727-4A14-F13D-675C-F3F79DAA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8BD1E27-F4D3-262F-4096-CF46F9B5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82" y="-60864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983F08E-F1A1-2CA4-6AFD-43F0B1BDD5C0}"/>
              </a:ext>
            </a:extLst>
          </p:cNvPr>
          <p:cNvSpPr txBox="1">
            <a:spLocks/>
          </p:cNvSpPr>
          <p:nvPr/>
        </p:nvSpPr>
        <p:spPr>
          <a:xfrm>
            <a:off x="393192" y="1055611"/>
            <a:ext cx="10142381" cy="57980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ts val="5400"/>
              </a:lnSpc>
              <a:spcBef>
                <a:spcPct val="0"/>
              </a:spcBef>
              <a:buNone/>
              <a:defRPr sz="4500" b="0" i="0" kern="120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  <a:defRPr/>
            </a:pPr>
            <a:r>
              <a:rPr lang="en-US" sz="5400" b="1">
                <a:solidFill>
                  <a:srgbClr val="FFFFFF"/>
                </a:solidFill>
                <a:latin typeface="Barlow" panose="00000500000000000000" pitchFamily="2" charset="0"/>
              </a:rPr>
              <a:t>Weekly Status Report (WSR)</a:t>
            </a:r>
            <a:r>
              <a:rPr lang="en-US" sz="5400">
                <a:solidFill>
                  <a:srgbClr val="FFFFFF"/>
                </a:solidFill>
                <a:latin typeface="Barlow SemiBold" panose="00000700000000000000" pitchFamily="2" charset="0"/>
              </a:rPr>
              <a:t>:</a:t>
            </a:r>
          </a:p>
          <a:p>
            <a:pPr lvl="0">
              <a:lnSpc>
                <a:spcPts val="5000"/>
              </a:lnSpc>
              <a:defRPr/>
            </a:pPr>
            <a:r>
              <a:rPr lang="en-US" sz="5400">
                <a:solidFill>
                  <a:srgbClr val="FFFFFF"/>
                </a:solidFill>
                <a:latin typeface="Barlow SemiBold" panose="00000700000000000000" pitchFamily="2" charset="0"/>
              </a:rPr>
              <a:t>Pop Advyzer Modernization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988D919-17DA-23A0-BC81-FFD9934404B8}"/>
              </a:ext>
            </a:extLst>
          </p:cNvPr>
          <p:cNvCxnSpPr>
            <a:cxnSpLocks/>
          </p:cNvCxnSpPr>
          <p:nvPr/>
        </p:nvCxnSpPr>
        <p:spPr>
          <a:xfrm>
            <a:off x="469392" y="2741322"/>
            <a:ext cx="6160008" cy="0"/>
          </a:xfrm>
          <a:prstGeom prst="line">
            <a:avLst/>
          </a:prstGeom>
          <a:ln w="3175">
            <a:gradFill flip="none" rotWithShape="1">
              <a:gsLst>
                <a:gs pos="0">
                  <a:srgbClr val="009ADB"/>
                </a:gs>
                <a:gs pos="100000">
                  <a:srgbClr val="474C5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60E1E6DC-2901-34B6-5A49-88FDBFB3C7F3}"/>
              </a:ext>
            </a:extLst>
          </p:cNvPr>
          <p:cNvSpPr txBox="1">
            <a:spLocks/>
          </p:cNvSpPr>
          <p:nvPr/>
        </p:nvSpPr>
        <p:spPr>
          <a:xfrm>
            <a:off x="456254" y="5217057"/>
            <a:ext cx="5695950" cy="9874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b="0" i="0" kern="1200">
                <a:solidFill>
                  <a:schemeClr val="tx2"/>
                </a:solidFill>
                <a:latin typeface="Barlow" pitchFamily="2" charset="77"/>
                <a:ea typeface="+mn-ea"/>
                <a:cs typeface="+mn-cs"/>
              </a:defRPr>
            </a:lvl1pPr>
            <a:lvl2pPr marL="2317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00" b="0" i="0" kern="1200">
                <a:solidFill>
                  <a:schemeClr val="tx2"/>
                </a:solidFill>
                <a:latin typeface="Barlow" pitchFamily="2" charset="77"/>
                <a:ea typeface="+mn-ea"/>
                <a:cs typeface="+mn-cs"/>
              </a:defRPr>
            </a:lvl2pPr>
            <a:lvl3pPr marL="51435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Barlow" pitchFamily="2" charset="77"/>
                <a:ea typeface="+mn-ea"/>
                <a:cs typeface="+mn-cs"/>
              </a:defRPr>
            </a:lvl3pPr>
            <a:lvl4pPr marL="68262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 b="0" i="0" kern="1200">
                <a:solidFill>
                  <a:schemeClr val="tx2"/>
                </a:solidFill>
                <a:latin typeface="Barlow" pitchFamily="2" charset="77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000" b="0" i="0" kern="1200">
                <a:solidFill>
                  <a:schemeClr val="tx2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474C55"/>
                </a:solidFill>
                <a:latin typeface="Barlow"/>
              </a:rPr>
              <a:t>Jun 05, 2026</a:t>
            </a:r>
          </a:p>
        </p:txBody>
      </p:sp>
    </p:spTree>
    <p:extLst>
      <p:ext uri="{BB962C8B-B14F-4D97-AF65-F5344CB8AC3E}">
        <p14:creationId xmlns:p14="http://schemas.microsoft.com/office/powerpoint/2010/main" val="298278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88D0-6800-F26F-C218-16E346EA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C211F-939B-C2A8-7D9F-2972C371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Copyright Emids 2025     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BE881-FE9C-091D-8489-08AD669E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7D03CC-13B7-4D1C-BA10-5EA08EDEAACB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18379-3C70-1C8D-BFFA-6F805AA6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081"/>
            <a:ext cx="12192000" cy="716522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en-US" sz="3200" b="1" u="sng"/>
              <a:t>MA Analytics Dashboard – Cloud </a:t>
            </a:r>
            <a:r>
              <a:rPr lang="en-US" sz="3200" b="1" u="sng" err="1"/>
              <a:t>PopA</a:t>
            </a:r>
            <a:endParaRPr lang="en-US" sz="3200" b="1" u="sn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F9D3B9-9EF6-3D0E-61FF-D73F2A4B2422}"/>
              </a:ext>
            </a:extLst>
          </p:cNvPr>
          <p:cNvGrpSpPr/>
          <p:nvPr/>
        </p:nvGrpSpPr>
        <p:grpSpPr>
          <a:xfrm>
            <a:off x="353997" y="6484187"/>
            <a:ext cx="1602935" cy="289733"/>
            <a:chOff x="387614" y="6475674"/>
            <a:chExt cx="1602935" cy="2897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A797F9-3396-36F4-1779-243C87139FF1}"/>
                </a:ext>
              </a:extLst>
            </p:cNvPr>
            <p:cNvSpPr/>
            <p:nvPr/>
          </p:nvSpPr>
          <p:spPr>
            <a:xfrm>
              <a:off x="387614" y="6475674"/>
              <a:ext cx="735065" cy="2897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06F1648-25C8-0177-D080-2C078926F468}"/>
                </a:ext>
              </a:extLst>
            </p:cNvPr>
            <p:cNvGrpSpPr/>
            <p:nvPr/>
          </p:nvGrpSpPr>
          <p:grpSpPr>
            <a:xfrm>
              <a:off x="387614" y="6475674"/>
              <a:ext cx="1602935" cy="180000"/>
              <a:chOff x="387614" y="6475674"/>
              <a:chExt cx="1602935" cy="180000"/>
            </a:xfrm>
          </p:grpSpPr>
          <p:pic>
            <p:nvPicPr>
              <p:cNvPr id="9" name="Picture 8" descr="A black and blue logo&#10;&#10;AI-generated content may be incorrect.">
                <a:extLst>
                  <a:ext uri="{FF2B5EF4-FFF2-40B4-BE49-F238E27FC236}">
                    <a16:creationId xmlns:a16="http://schemas.microsoft.com/office/drawing/2014/main" id="{4DFA62C1-D4FB-99DA-9D6D-A2ECE8293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9400"/>
              <a:stretch>
                <a:fillRect/>
              </a:stretch>
            </p:blipFill>
            <p:spPr>
              <a:xfrm>
                <a:off x="1315935" y="6475674"/>
                <a:ext cx="674614" cy="180000"/>
              </a:xfrm>
              <a:prstGeom prst="rect">
                <a:avLst/>
              </a:prstGeom>
            </p:spPr>
          </p:pic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12B150D-3F9B-F111-95AB-A790FE396ED3}"/>
                  </a:ext>
                </a:extLst>
              </p:cNvPr>
              <p:cNvCxnSpPr/>
              <p:nvPr/>
            </p:nvCxnSpPr>
            <p:spPr>
              <a:xfrm>
                <a:off x="1186857" y="6506781"/>
                <a:ext cx="0" cy="116587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10" descr="A blue letter on a black background&#10;&#10;AI-generated content may be incorrect.">
                <a:extLst>
                  <a:ext uri="{FF2B5EF4-FFF2-40B4-BE49-F238E27FC236}">
                    <a16:creationId xmlns:a16="http://schemas.microsoft.com/office/drawing/2014/main" id="{86D9A24A-31B3-0808-394C-A3B5DF9E3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7614" y="6506709"/>
                <a:ext cx="670983" cy="116729"/>
              </a:xfrm>
              <a:prstGeom prst="rect">
                <a:avLst/>
              </a:prstGeom>
            </p:spPr>
          </p:pic>
        </p:grpSp>
      </p:grp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F3591DFE-E052-A8A9-CC8D-63E7167DEC1E}"/>
              </a:ext>
            </a:extLst>
          </p:cNvPr>
          <p:cNvSpPr txBox="1">
            <a:spLocks/>
          </p:cNvSpPr>
          <p:nvPr/>
        </p:nvSpPr>
        <p:spPr>
          <a:xfrm>
            <a:off x="721528" y="2379540"/>
            <a:ext cx="4881151" cy="3772661"/>
          </a:xfrm>
          <a:prstGeom prst="rect">
            <a:avLst/>
          </a:prstGeom>
          <a:ln w="3175">
            <a:solidFill>
              <a:schemeClr val="tx2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/>
          </a:p>
          <a:p>
            <a:r>
              <a:rPr lang="en-US" sz="2000"/>
              <a:t>Achieved a major milestone with dashboard validation showing highly consistent results and strong performance in Tableau.</a:t>
            </a:r>
          </a:p>
          <a:p>
            <a:endParaRPr lang="en-US" sz="2000"/>
          </a:p>
          <a:p>
            <a:r>
              <a:rPr lang="en-US" sz="2000"/>
              <a:t>The cloud pipeline is delivering beyond expectations, reinforcing confidence in a scalable and modern analytics foundation.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44CE8B-3218-0444-AB3C-85A0C1D23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940" y="2326079"/>
            <a:ext cx="5507996" cy="37718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EBCEA2-EBD8-5964-0983-4A4D40A476FB}"/>
              </a:ext>
            </a:extLst>
          </p:cNvPr>
          <p:cNvSpPr txBox="1"/>
          <p:nvPr/>
        </p:nvSpPr>
        <p:spPr>
          <a:xfrm>
            <a:off x="721528" y="1059020"/>
            <a:ext cx="105114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MA analytics Dashboard powered by Cloud </a:t>
            </a:r>
            <a:r>
              <a:rPr lang="en-US" sz="2400" b="1" err="1"/>
              <a:t>PopA</a:t>
            </a:r>
            <a:r>
              <a:rPr lang="en-US" sz="2400" b="1"/>
              <a:t> engine reached go-live, next refresh would be April 2026 BDR data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82CCAE-78B8-C066-F1A3-3B9136B59C21}"/>
              </a:ext>
            </a:extLst>
          </p:cNvPr>
          <p:cNvSpPr txBox="1"/>
          <p:nvPr/>
        </p:nvSpPr>
        <p:spPr>
          <a:xfrm>
            <a:off x="5804452" y="2007704"/>
            <a:ext cx="542848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chemeClr val="bg2"/>
                </a:solidFill>
              </a:rPr>
              <a:t>CLOUD                                            </a:t>
            </a:r>
            <a:r>
              <a:rPr lang="en-US" b="1">
                <a:solidFill>
                  <a:schemeClr val="accent6"/>
                </a:solidFill>
              </a:rPr>
              <a:t>ON_PREM</a:t>
            </a:r>
          </a:p>
        </p:txBody>
      </p:sp>
    </p:spTree>
    <p:extLst>
      <p:ext uri="{BB962C8B-B14F-4D97-AF65-F5344CB8AC3E}">
        <p14:creationId xmlns:p14="http://schemas.microsoft.com/office/powerpoint/2010/main" val="428295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EB00DA-46E9-7165-E7FC-CCF30166B54A}"/>
              </a:ext>
            </a:extLst>
          </p:cNvPr>
          <p:cNvSpPr/>
          <p:nvPr/>
        </p:nvSpPr>
        <p:spPr>
          <a:xfrm>
            <a:off x="820309" y="1058624"/>
            <a:ext cx="10599752" cy="523284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29B12C-E7BB-1234-653E-C191FF80BEB2}"/>
              </a:ext>
            </a:extLst>
          </p:cNvPr>
          <p:cNvSpPr txBox="1"/>
          <p:nvPr/>
        </p:nvSpPr>
        <p:spPr>
          <a:xfrm>
            <a:off x="3270685" y="1433235"/>
            <a:ext cx="5286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65F"/>
                </a:solidFill>
              </a:defRPr>
            </a:pPr>
            <a:r>
              <a:rPr lang="en-US" sz="2800"/>
              <a:t>Planned Tasks &amp; Timeline</a:t>
            </a:r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AEC8C7-A4F7-D9FD-1C3E-6BC5B59D22F0}"/>
              </a:ext>
            </a:extLst>
          </p:cNvPr>
          <p:cNvSpPr txBox="1"/>
          <p:nvPr/>
        </p:nvSpPr>
        <p:spPr>
          <a:xfrm>
            <a:off x="1086377" y="2220802"/>
            <a:ext cx="9913227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sz="2400" b="1">
                <a:solidFill>
                  <a:srgbClr val="333333"/>
                </a:solidFill>
              </a:rPr>
              <a:t>  </a:t>
            </a:r>
            <a:r>
              <a:rPr lang="en-US" sz="2400" b="1">
                <a:solidFill>
                  <a:srgbClr val="333333"/>
                </a:solidFill>
              </a:rPr>
              <a:t>Complete Open Items [UAT] </a:t>
            </a:r>
            <a:r>
              <a:rPr sz="2400" b="1">
                <a:solidFill>
                  <a:srgbClr val="333333"/>
                </a:solidFill>
              </a:rPr>
              <a:t>: </a:t>
            </a:r>
            <a:r>
              <a:rPr sz="2400">
                <a:solidFill>
                  <a:srgbClr val="666666"/>
                </a:solidFill>
              </a:rPr>
              <a:t>June 2025</a:t>
            </a:r>
            <a:r>
              <a:rPr lang="en-US" sz="2400">
                <a:solidFill>
                  <a:srgbClr val="666666"/>
                </a:solidFill>
              </a:rPr>
              <a:t> </a:t>
            </a:r>
            <a:r>
              <a:rPr lang="en-US" sz="2400" b="1">
                <a:solidFill>
                  <a:srgbClr val="00B050"/>
                </a:solidFill>
              </a:rPr>
              <a:t>[On Track - QA Complete]</a:t>
            </a:r>
            <a:endParaRPr sz="2400" b="1">
              <a:solidFill>
                <a:srgbClr val="00B050"/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sz="2400" b="1">
                <a:solidFill>
                  <a:srgbClr val="333333"/>
                </a:solidFill>
              </a:rPr>
              <a:t>  </a:t>
            </a:r>
            <a:r>
              <a:rPr lang="en-US" sz="2400" b="1">
                <a:solidFill>
                  <a:srgbClr val="333333"/>
                </a:solidFill>
              </a:rPr>
              <a:t>Supplemental </a:t>
            </a:r>
            <a:r>
              <a:rPr lang="en-US" sz="2400">
                <a:solidFill>
                  <a:srgbClr val="333333"/>
                </a:solidFill>
              </a:rPr>
              <a:t>[With Interim Rules] </a:t>
            </a:r>
            <a:r>
              <a:rPr lang="en-US" sz="2400" b="1">
                <a:solidFill>
                  <a:srgbClr val="333333"/>
                </a:solidFill>
              </a:rPr>
              <a:t>Validation Complete </a:t>
            </a:r>
            <a:r>
              <a:rPr sz="2400" b="1">
                <a:solidFill>
                  <a:srgbClr val="333333"/>
                </a:solidFill>
              </a:rPr>
              <a:t>: </a:t>
            </a:r>
            <a:r>
              <a:rPr lang="en-US" sz="2400">
                <a:solidFill>
                  <a:srgbClr val="666666"/>
                </a:solidFill>
              </a:rPr>
              <a:t>End of June </a:t>
            </a:r>
            <a:r>
              <a:rPr lang="en-US" sz="2400" b="1">
                <a:solidFill>
                  <a:srgbClr val="00B050"/>
                </a:solidFill>
              </a:rPr>
              <a:t>[On Track - DEV]</a:t>
            </a:r>
            <a:endParaRPr lang="en-US" sz="2400">
              <a:solidFill>
                <a:srgbClr val="00B050"/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666666"/>
                </a:solidFill>
              </a:rPr>
              <a:t>  </a:t>
            </a:r>
            <a:r>
              <a:rPr lang="en-US" sz="2400" b="1">
                <a:solidFill>
                  <a:srgbClr val="666666"/>
                </a:solidFill>
              </a:rPr>
              <a:t>MA pipeline in Production + Supplemental Dashboard [UAT] </a:t>
            </a:r>
            <a:r>
              <a:rPr lang="en-US" sz="2400">
                <a:solidFill>
                  <a:srgbClr val="666666"/>
                </a:solidFill>
              </a:rPr>
              <a:t>: July </a:t>
            </a:r>
            <a:r>
              <a:rPr lang="en-US" sz="2400" b="1">
                <a:solidFill>
                  <a:srgbClr val="00B050"/>
                </a:solidFill>
              </a:rPr>
              <a:t>[On Track - DEV]</a:t>
            </a:r>
            <a:endParaRPr sz="2400">
              <a:solidFill>
                <a:srgbClr val="00B050"/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400" b="1">
                <a:solidFill>
                  <a:srgbClr val="333333"/>
                </a:solidFill>
              </a:rPr>
              <a:t>  </a:t>
            </a:r>
            <a:r>
              <a:rPr sz="2400" b="1">
                <a:solidFill>
                  <a:srgbClr val="333333"/>
                </a:solidFill>
              </a:rPr>
              <a:t>Dashboards</a:t>
            </a:r>
            <a:r>
              <a:rPr lang="en-US" sz="2400" b="1">
                <a:solidFill>
                  <a:srgbClr val="333333"/>
                </a:solidFill>
              </a:rPr>
              <a:t> With Supplemental </a:t>
            </a:r>
            <a:r>
              <a:rPr lang="en-US" sz="2400">
                <a:solidFill>
                  <a:srgbClr val="333333"/>
                </a:solidFill>
              </a:rPr>
              <a:t>[With Golden Rules] </a:t>
            </a:r>
            <a:r>
              <a:rPr lang="en-US" sz="2400" b="1">
                <a:solidFill>
                  <a:srgbClr val="333333"/>
                </a:solidFill>
              </a:rPr>
              <a:t>in Production </a:t>
            </a:r>
            <a:r>
              <a:rPr sz="2400" b="1">
                <a:solidFill>
                  <a:srgbClr val="333333"/>
                </a:solidFill>
              </a:rPr>
              <a:t>: </a:t>
            </a:r>
            <a:r>
              <a:rPr lang="en-US" sz="2400">
                <a:solidFill>
                  <a:srgbClr val="666666"/>
                </a:solidFill>
              </a:rPr>
              <a:t>End of August</a:t>
            </a:r>
            <a:r>
              <a:rPr sz="2400" b="1">
                <a:solidFill>
                  <a:srgbClr val="333333"/>
                </a:solidFill>
              </a:rPr>
              <a:t> </a:t>
            </a:r>
            <a:r>
              <a:rPr lang="en-US" sz="2400" b="1">
                <a:solidFill>
                  <a:srgbClr val="00B050"/>
                </a:solidFill>
              </a:rPr>
              <a:t>[Yet to start]</a:t>
            </a:r>
            <a:r>
              <a:rPr sz="2400" b="1">
                <a:solidFill>
                  <a:srgbClr val="00B050"/>
                </a:solidFill>
              </a:rPr>
              <a:t> </a:t>
            </a:r>
            <a:r>
              <a:rPr lang="en-US" sz="2400" b="1">
                <a:solidFill>
                  <a:srgbClr val="00B050"/>
                </a:solidFill>
              </a:rPr>
              <a:t> </a:t>
            </a:r>
            <a:endParaRPr sz="2400">
              <a:solidFill>
                <a:srgbClr val="00B05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1548E6-45C9-84C6-6E82-17D77548EEDB}"/>
              </a:ext>
            </a:extLst>
          </p:cNvPr>
          <p:cNvSpPr txBox="1">
            <a:spLocks/>
          </p:cNvSpPr>
          <p:nvPr/>
        </p:nvSpPr>
        <p:spPr>
          <a:xfrm>
            <a:off x="1" y="66383"/>
            <a:ext cx="12192000" cy="716522"/>
          </a:xfrm>
          <a:prstGeom prst="rect">
            <a:avLst/>
          </a:prstGeom>
          <a:solidFill>
            <a:srgbClr val="00B0F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sz="3200">
                <a:solidFill>
                  <a:srgbClr val="002060"/>
                </a:solidFill>
              </a:rPr>
              <a:t>Population </a:t>
            </a:r>
            <a:r>
              <a:rPr lang="en-US" sz="3200" err="1">
                <a:solidFill>
                  <a:srgbClr val="002060"/>
                </a:solidFill>
              </a:rPr>
              <a:t>Advyzer</a:t>
            </a:r>
            <a:r>
              <a:rPr lang="en-US" sz="3200">
                <a:solidFill>
                  <a:srgbClr val="002060"/>
                </a:solidFill>
              </a:rPr>
              <a:t> Cloud Migration – Current Status &amp; Planned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53BB79-F686-3787-3ABB-C5E37025B268}"/>
              </a:ext>
            </a:extLst>
          </p:cNvPr>
          <p:cNvSpPr/>
          <p:nvPr/>
        </p:nvSpPr>
        <p:spPr>
          <a:xfrm>
            <a:off x="7409308" y="1068046"/>
            <a:ext cx="4581013" cy="2841716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3200" b="1" u="sng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Retrospective — Timeline Drivers &amp; </a:t>
            </a:r>
            <a:r>
              <a:rPr lang="en-US" sz="3200" b="1" u="sng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</a:t>
            </a:r>
            <a:r>
              <a:rPr sz="3200" b="1" u="sng">
                <a:solidFill>
                  <a:schemeClr val="tx1"/>
                </a:solidFill>
                <a:latin typeface="+mj-lt"/>
                <a:ea typeface="+mj-ea"/>
                <a:cs typeface="+mj-cs"/>
              </a:rPr>
              <a:t> Gains</a:t>
            </a:r>
          </a:p>
        </p:txBody>
      </p:sp>
      <p:pic>
        <p:nvPicPr>
          <p:cNvPr id="3" name="Picture 2" descr="popa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9" y="3200400"/>
            <a:ext cx="3124662" cy="3474720"/>
          </a:xfrm>
          <a:prstGeom prst="rect">
            <a:avLst/>
          </a:prstGeom>
        </p:spPr>
      </p:pic>
      <p:pic>
        <p:nvPicPr>
          <p:cNvPr id="4" name="Picture 3" descr="popa_ra_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661" y="1154443"/>
            <a:ext cx="2524298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00642" y="4748940"/>
            <a:ext cx="3461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F"/>
                </a:solidFill>
              </a:defRPr>
            </a:pPr>
            <a:r>
              <a:rPr lang="en-US" sz="1400"/>
              <a:t>Recommendations</a:t>
            </a:r>
            <a:r>
              <a:rPr lang="en-US"/>
              <a:t> to reach the finish line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0337" y="5085397"/>
            <a:ext cx="3991358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Finalize business rules </a:t>
            </a:r>
            <a:r>
              <a:rPr lang="en-US" sz="1200">
                <a:solidFill>
                  <a:srgbClr val="333333"/>
                </a:solidFill>
              </a:rPr>
              <a:t> </a:t>
            </a:r>
            <a:endParaRPr sz="1200">
              <a:solidFill>
                <a:srgbClr val="333333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Establish validation criteria upfront</a:t>
            </a:r>
            <a:r>
              <a:rPr lang="en-US" sz="1200">
                <a:solidFill>
                  <a:srgbClr val="333333"/>
                </a:solidFill>
              </a:rPr>
              <a:t> 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200">
                <a:solidFill>
                  <a:srgbClr val="333333"/>
                </a:solidFill>
              </a:rPr>
              <a:t>Prioritize features driving the functionality </a:t>
            </a:r>
          </a:p>
          <a:p>
            <a:pPr algn="l"/>
            <a:endParaRPr sz="1050">
              <a:solidFill>
                <a:srgbClr val="33333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3DA8C-02AF-908F-AFB7-227231F20454}"/>
              </a:ext>
            </a:extLst>
          </p:cNvPr>
          <p:cNvSpPr txBox="1"/>
          <p:nvPr/>
        </p:nvSpPr>
        <p:spPr>
          <a:xfrm>
            <a:off x="9017436" y="1118297"/>
            <a:ext cx="1301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>
                <a:solidFill>
                  <a:schemeClr val="tx2"/>
                </a:solidFill>
              </a:rPr>
              <a:t>Overall</a:t>
            </a:r>
            <a:r>
              <a:rPr sz="1400" b="1">
                <a:solidFill>
                  <a:schemeClr val="tx2"/>
                </a:solidFill>
              </a:rPr>
              <a:t> Gains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EC174-1A47-8C77-B9EC-7E96B7560542}"/>
              </a:ext>
            </a:extLst>
          </p:cNvPr>
          <p:cNvSpPr txBox="1"/>
          <p:nvPr/>
        </p:nvSpPr>
        <p:spPr>
          <a:xfrm>
            <a:off x="7679185" y="1579394"/>
            <a:ext cx="39913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sz="1200" b="1">
                <a:solidFill>
                  <a:srgbClr val="1B365F"/>
                </a:solidFill>
              </a:rPr>
              <a:t> </a:t>
            </a:r>
            <a:r>
              <a:rPr lang="en-US" sz="1200" b="1">
                <a:solidFill>
                  <a:srgbClr val="1B365F"/>
                </a:solidFill>
              </a:rPr>
              <a:t>Engine Run Time</a:t>
            </a:r>
            <a:r>
              <a:rPr sz="1200" b="1">
                <a:solidFill>
                  <a:srgbClr val="1B365F"/>
                </a:solidFill>
              </a:rPr>
              <a:t>: </a:t>
            </a:r>
            <a:r>
              <a:rPr sz="1200">
                <a:solidFill>
                  <a:srgbClr val="333333"/>
                </a:solidFill>
              </a:rPr>
              <a:t>1+ week (legacy) → 2 days (cloud)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  </a:t>
            </a:r>
            <a:r>
              <a:rPr sz="1200" b="1">
                <a:solidFill>
                  <a:srgbClr val="1B365F"/>
                </a:solidFill>
              </a:rPr>
              <a:t>Transparency: </a:t>
            </a:r>
            <a:r>
              <a:rPr sz="1200">
                <a:solidFill>
                  <a:srgbClr val="333333"/>
                </a:solidFill>
              </a:rPr>
              <a:t>Rules documented; intermediate outputs auditable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  </a:t>
            </a:r>
            <a:r>
              <a:rPr sz="1200" b="1">
                <a:solidFill>
                  <a:srgbClr val="1B365F"/>
                </a:solidFill>
              </a:rPr>
              <a:t>Flexibility: </a:t>
            </a:r>
            <a:r>
              <a:rPr sz="1200">
                <a:solidFill>
                  <a:srgbClr val="333333"/>
                </a:solidFill>
              </a:rPr>
              <a:t>Majority of rules driven by reference data — configurable without code changes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  </a:t>
            </a:r>
            <a:r>
              <a:rPr sz="1200" b="1">
                <a:solidFill>
                  <a:srgbClr val="1B365F"/>
                </a:solidFill>
              </a:rPr>
              <a:t>Supplemental Data: </a:t>
            </a:r>
            <a:r>
              <a:rPr sz="1200">
                <a:solidFill>
                  <a:srgbClr val="333333"/>
                </a:solidFill>
              </a:rPr>
              <a:t>New capability to process supplemental data sources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  </a:t>
            </a:r>
            <a:r>
              <a:rPr sz="1200" b="1">
                <a:solidFill>
                  <a:srgbClr val="1B365F"/>
                </a:solidFill>
              </a:rPr>
              <a:t>Semantic Layer: </a:t>
            </a:r>
            <a:r>
              <a:rPr sz="1200">
                <a:solidFill>
                  <a:srgbClr val="333333"/>
                </a:solidFill>
              </a:rPr>
              <a:t>Cost &amp; Utilization aligned with enterprise Semantic Layer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sz="1200">
                <a:solidFill>
                  <a:srgbClr val="333333"/>
                </a:solidFill>
              </a:rPr>
              <a:t>  </a:t>
            </a:r>
            <a:r>
              <a:rPr sz="1200" b="1">
                <a:solidFill>
                  <a:srgbClr val="1B365F"/>
                </a:solidFill>
              </a:rPr>
              <a:t>Provider SAM: </a:t>
            </a:r>
            <a:r>
              <a:rPr sz="1200">
                <a:solidFill>
                  <a:srgbClr val="333333"/>
                </a:solidFill>
              </a:rPr>
              <a:t>Provider information sourced from standardized SAM module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59BC2C-AA43-6D5B-96F4-355BA4426479}"/>
              </a:ext>
            </a:extLst>
          </p:cNvPr>
          <p:cNvGraphicFramePr>
            <a:graphicFrameLocks noGrp="1"/>
          </p:cNvGraphicFramePr>
          <p:nvPr/>
        </p:nvGraphicFramePr>
        <p:xfrm>
          <a:off x="201679" y="1077690"/>
          <a:ext cx="3394539" cy="186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Issue Category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B36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33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3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5F8A"/>
                          </a:solidFill>
                        </a:defRPr>
                      </a:pPr>
                      <a:r>
                        <a:t>Rules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5F8A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C5F8A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33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33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33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95A969-A434-F9CE-26FE-E213C3076963}"/>
              </a:ext>
            </a:extLst>
          </p:cNvPr>
          <p:cNvSpPr/>
          <p:nvPr/>
        </p:nvSpPr>
        <p:spPr>
          <a:xfrm>
            <a:off x="3596218" y="3909762"/>
            <a:ext cx="4074855" cy="2331407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78AF0-D98A-C42D-DDC2-674D2DD5C16B}"/>
              </a:ext>
            </a:extLst>
          </p:cNvPr>
          <p:cNvSpPr txBox="1"/>
          <p:nvPr/>
        </p:nvSpPr>
        <p:spPr>
          <a:xfrm>
            <a:off x="3751677" y="4239012"/>
            <a:ext cx="20036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1B365F"/>
                </a:solidFill>
              </a:rPr>
              <a:t>Rules Alignment Examples (29 items – 56%):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000" b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 Engine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Claim decay logic, multi-claim selection,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000" b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Chronic HCC Flag  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000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SubCC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VS  HCC level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000" b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T1/T2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Additional claim count and diagnosis count rules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000" b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Semantic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ER visit definitions and stay logic differ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B67ED-E0ED-223E-D1EB-15D0FC9CE779}"/>
              </a:ext>
            </a:extLst>
          </p:cNvPr>
          <p:cNvSpPr txBox="1"/>
          <p:nvPr/>
        </p:nvSpPr>
        <p:spPr>
          <a:xfrm>
            <a:off x="5798102" y="4268346"/>
            <a:ext cx="174061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1B365F"/>
                </a:solidFill>
              </a:rPr>
              <a:t>Defect Examples (14 items -27% ):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Suspect status flags inconsistent with open risk values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Eligible members in T1/T2 missing from upstream </a:t>
            </a:r>
            <a:r>
              <a:rPr lang="en-US" sz="1000" err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Risk_Member</a:t>
            </a:r>
            <a:r>
              <a:rPr lang="en-US" sz="100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output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4B69F-78A6-70E0-0D2D-8BC70940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8A858-379A-0049-D5F4-456704E5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1E5D1-EB0B-C70C-51A6-EC982362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027D94-940E-279F-CEEB-4939362D304E}"/>
              </a:ext>
            </a:extLst>
          </p:cNvPr>
          <p:cNvSpPr txBox="1">
            <a:spLocks/>
          </p:cNvSpPr>
          <p:nvPr/>
        </p:nvSpPr>
        <p:spPr>
          <a:xfrm>
            <a:off x="0" y="147529"/>
            <a:ext cx="12192000" cy="597907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/>
              <a:t>June Release</a:t>
            </a:r>
            <a:endParaRPr lang="en-US" sz="3200" b="1">
              <a:solidFill>
                <a:srgbClr val="00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20ED3C2-202F-3A42-106E-14A7F72AF8E5}"/>
              </a:ext>
            </a:extLst>
          </p:cNvPr>
          <p:cNvSpPr txBox="1">
            <a:spLocks/>
          </p:cNvSpPr>
          <p:nvPr/>
        </p:nvSpPr>
        <p:spPr>
          <a:xfrm>
            <a:off x="511865" y="800601"/>
            <a:ext cx="10386647" cy="5311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Suspecting engine priority backlog(Jun)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Add Disease Interaction rows for Suspected GAPs (ready for UAT)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Add HCC Count Payment rows for Suspected GAPs(ready for UAT)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Include additional 5 ICD Procedure Codes in addition current Principal Procedure code for Method 10 GAP Suspecting(QA)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Apply HCC Suppression for GAPs suspected across all methods for a given member, year &amp; version.(QA)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Use Chronic DIAG code instead of Chronic HCC for method 4 suspecting.(QA)</a:t>
            </a:r>
          </a:p>
          <a:p>
            <a:r>
              <a:rPr lang="en-US"/>
              <a:t>Supplemental data pipeline needs to be finalized, including(June):</a:t>
            </a:r>
          </a:p>
          <a:p>
            <a:pPr lvl="1"/>
            <a:r>
              <a:rPr lang="en-US"/>
              <a:t>MMR, MAO - UAT of scoring for 2 plans(370, 030) (interim rules)</a:t>
            </a:r>
          </a:p>
          <a:p>
            <a:pPr lvl="1"/>
            <a:r>
              <a:rPr lang="en-US"/>
              <a:t>Creation of T1, T2 metrics (MLR, chart review, recapture, segment flags)</a:t>
            </a:r>
          </a:p>
        </p:txBody>
      </p:sp>
    </p:spTree>
    <p:extLst>
      <p:ext uri="{BB962C8B-B14F-4D97-AF65-F5344CB8AC3E}">
        <p14:creationId xmlns:p14="http://schemas.microsoft.com/office/powerpoint/2010/main" val="15981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84EE-17FE-7145-9666-4FCEE489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2D254-4129-8315-5B3C-19DF1155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Emids 2025       |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6BCB1-74B8-8F27-2491-84334100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D03CC-13B7-4D1C-BA10-5EA08EDEAA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6216FE-F9BB-BA04-3474-755C6C04CA05}"/>
              </a:ext>
            </a:extLst>
          </p:cNvPr>
          <p:cNvSpPr txBox="1">
            <a:spLocks/>
          </p:cNvSpPr>
          <p:nvPr/>
        </p:nvSpPr>
        <p:spPr>
          <a:xfrm>
            <a:off x="349025" y="202695"/>
            <a:ext cx="11493950" cy="597907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/>
              <a:t>Jul Release</a:t>
            </a:r>
            <a:endParaRPr lang="en-US" sz="3200" b="1">
              <a:solidFill>
                <a:srgbClr val="000000"/>
              </a:solidFill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FC23654-3747-B948-916A-38F9F9847AFB}"/>
              </a:ext>
            </a:extLst>
          </p:cNvPr>
          <p:cNvSpPr txBox="1">
            <a:spLocks/>
          </p:cNvSpPr>
          <p:nvPr/>
        </p:nvSpPr>
        <p:spPr>
          <a:xfrm>
            <a:off x="253448" y="935519"/>
            <a:ext cx="10386647" cy="42379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Supplemental data pipeline:</a:t>
            </a:r>
          </a:p>
          <a:p>
            <a:pPr lvl="1"/>
            <a:r>
              <a:rPr lang="en-US"/>
              <a:t>Creation of BI layer</a:t>
            </a:r>
          </a:p>
          <a:p>
            <a:pPr lvl="1"/>
            <a:r>
              <a:rPr lang="en-US"/>
              <a:t>Connection to tableau and testing of new tableau</a:t>
            </a:r>
          </a:p>
          <a:p>
            <a:pPr lvl="1"/>
            <a:r>
              <a:rPr lang="en-US"/>
              <a:t>Final MMR ‘golden record’ transformation, testing, integration</a:t>
            </a:r>
          </a:p>
          <a:p>
            <a:r>
              <a:rPr lang="en-US"/>
              <a:t>Pipeline stabilization steps to streamline refresh execution</a:t>
            </a:r>
          </a:p>
          <a:p>
            <a:pPr lvl="1"/>
            <a:r>
              <a:rPr lang="en-US"/>
              <a:t>Automated QA steps need to be developed and implemented</a:t>
            </a:r>
          </a:p>
          <a:p>
            <a:pPr lvl="1"/>
            <a:r>
              <a:rPr lang="en-US"/>
              <a:t>Determine refresh strategy (e.g., rerun all three years or subset)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A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6E442-3A2C-DF84-6B00-D253216C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EBDED8-105C-BF44-D596-D78B59AA5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92" y="2122934"/>
            <a:ext cx="5696712" cy="34329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Thank you</a:t>
            </a:r>
            <a:br>
              <a:rPr lang="en-US"/>
            </a:br>
            <a:br>
              <a:rPr lang="en-US"/>
            </a:br>
            <a:r>
              <a:rPr lang="en-US" sz="2400"/>
              <a:t>Mukesh Kumar</a:t>
            </a:r>
            <a:br>
              <a:rPr lang="en-US" sz="2400"/>
            </a:br>
            <a:r>
              <a:rPr lang="en-US" sz="2000"/>
              <a:t>Technical Lead </a:t>
            </a:r>
            <a:br>
              <a:rPr lang="en-US"/>
            </a:br>
            <a:r>
              <a:rPr lang="en-US"/>
              <a:t>				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6895883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BCBS THEME">
  <a:themeElements>
    <a:clrScheme name="BCBS COLOUR">
      <a:dk1>
        <a:srgbClr val="262626"/>
      </a:dk1>
      <a:lt1>
        <a:srgbClr val="FFFFFF"/>
      </a:lt1>
      <a:dk2>
        <a:srgbClr val="0092BC"/>
      </a:dk2>
      <a:lt2>
        <a:srgbClr val="0091DA"/>
      </a:lt2>
      <a:accent1>
        <a:srgbClr val="6399AE"/>
      </a:accent1>
      <a:accent2>
        <a:srgbClr val="003E51"/>
      </a:accent2>
      <a:accent3>
        <a:srgbClr val="E35205"/>
      </a:accent3>
      <a:accent4>
        <a:srgbClr val="F1BE48"/>
      </a:accent4>
      <a:accent5>
        <a:srgbClr val="DDCBA4"/>
      </a:accent5>
      <a:accent6>
        <a:srgbClr val="78BE20"/>
      </a:accent6>
      <a:hlink>
        <a:srgbClr val="002060"/>
      </a:hlink>
      <a:folHlink>
        <a:srgbClr val="FFC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CBS THEME" id="{FB283160-3CEE-4DF2-8559-D5C1BE41AC6E}" vid="{2730BD13-361A-41A9-B171-E41136BD276E}"/>
    </a:ext>
  </a:extLst>
</a:theme>
</file>

<file path=ppt/theme/theme2.xml><?xml version="1.0" encoding="utf-8"?>
<a:theme xmlns:a="http://schemas.openxmlformats.org/drawingml/2006/main" name="2_Office Theme">
  <a:themeElements>
    <a:clrScheme name="BCBS Color">
      <a:dk1>
        <a:srgbClr val="262626"/>
      </a:dk1>
      <a:lt1>
        <a:srgbClr val="FFFFFF"/>
      </a:lt1>
      <a:dk2>
        <a:srgbClr val="0092BC"/>
      </a:dk2>
      <a:lt2>
        <a:srgbClr val="0091DA"/>
      </a:lt2>
      <a:accent1>
        <a:srgbClr val="6399AE"/>
      </a:accent1>
      <a:accent2>
        <a:srgbClr val="003E51"/>
      </a:accent2>
      <a:accent3>
        <a:srgbClr val="E35205"/>
      </a:accent3>
      <a:accent4>
        <a:srgbClr val="F1BE48"/>
      </a:accent4>
      <a:accent5>
        <a:srgbClr val="DDCBA4"/>
      </a:accent5>
      <a:accent6>
        <a:srgbClr val="78BE20"/>
      </a:accent6>
      <a:hlink>
        <a:srgbClr val="002060"/>
      </a:hlink>
      <a:folHlink>
        <a:srgbClr val="FFC000"/>
      </a:folHlink>
    </a:clrScheme>
    <a:fontScheme name="Emid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mids_Template_012324_V5" id="{CA736A27-EBD9-BD44-86CD-74EA1E0F38BF}" vid="{DC9C5BFB-289D-C846-83B3-392F3F7A3315}"/>
    </a:ext>
  </a:extLst>
</a:theme>
</file>

<file path=ppt/theme/theme3.xml><?xml version="1.0" encoding="utf-8"?>
<a:theme xmlns:a="http://schemas.openxmlformats.org/drawingml/2006/main" name="3_Office Theme">
  <a:themeElements>
    <a:clrScheme name="BCBS Color">
      <a:dk1>
        <a:srgbClr val="262626"/>
      </a:dk1>
      <a:lt1>
        <a:srgbClr val="FFFFFF"/>
      </a:lt1>
      <a:dk2>
        <a:srgbClr val="0092BC"/>
      </a:dk2>
      <a:lt2>
        <a:srgbClr val="0091DA"/>
      </a:lt2>
      <a:accent1>
        <a:srgbClr val="6399AE"/>
      </a:accent1>
      <a:accent2>
        <a:srgbClr val="003E51"/>
      </a:accent2>
      <a:accent3>
        <a:srgbClr val="E35205"/>
      </a:accent3>
      <a:accent4>
        <a:srgbClr val="F1BE48"/>
      </a:accent4>
      <a:accent5>
        <a:srgbClr val="DDCBA4"/>
      </a:accent5>
      <a:accent6>
        <a:srgbClr val="78BE20"/>
      </a:accent6>
      <a:hlink>
        <a:srgbClr val="002060"/>
      </a:hlink>
      <a:folHlink>
        <a:srgbClr val="FFC000"/>
      </a:folHlink>
    </a:clrScheme>
    <a:fontScheme name="Emid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mids_Template_012324_V5" id="{CA736A27-EBD9-BD44-86CD-74EA1E0F38BF}" vid="{DC9C5BFB-289D-C846-83B3-392F3F7A331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739C040A13A140ABB4EB2C9FB1BD3B" ma:contentTypeVersion="9" ma:contentTypeDescription="Create a new document." ma:contentTypeScope="" ma:versionID="465ab906378d00233b2440984c1dddef">
  <xsd:schema xmlns:xsd="http://www.w3.org/2001/XMLSchema" xmlns:xs="http://www.w3.org/2001/XMLSchema" xmlns:p="http://schemas.microsoft.com/office/2006/metadata/properties" xmlns:ns1="http://schemas.microsoft.com/sharepoint/v3" xmlns:ns2="2769d308-c10c-49f5-a378-20a394df4bfa" targetNamespace="http://schemas.microsoft.com/office/2006/metadata/properties" ma:root="true" ma:fieldsID="9be22a02e83e24762f3d4c407e09a79e" ns1:_="" ns2:_="">
    <xsd:import namespace="http://schemas.microsoft.com/sharepoint/v3"/>
    <xsd:import namespace="2769d308-c10c-49f5-a378-20a394df4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9d308-c10c-49f5-a378-20a394df4b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D2C024-9E60-46B0-B0DA-CC07417D89B7}">
  <ds:schemaRefs>
    <ds:schemaRef ds:uri="2769d308-c10c-49f5-a378-20a394df4bfa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3CBF25-96C1-47F4-81D3-67B5B7484F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0397C1-8899-4DA1-9AB8-0EA5FB8BA126}">
  <ds:schemaRefs>
    <ds:schemaRef ds:uri="2769d308-c10c-49f5-a378-20a394df4b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b087376-1284-4173-9385-a6766cdfef8c}" enabled="0" method="" siteId="{bb087376-1284-4173-9385-a6766cdfef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Widescreen</PresentationFormat>
  <Paragraphs>86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Barlow</vt:lpstr>
      <vt:lpstr>Barlow SemiBold</vt:lpstr>
      <vt:lpstr>Calibri</vt:lpstr>
      <vt:lpstr>Wingdings</vt:lpstr>
      <vt:lpstr>BCBS THEME</vt:lpstr>
      <vt:lpstr>2_Office Theme</vt:lpstr>
      <vt:lpstr>3_Office Theme</vt:lpstr>
      <vt:lpstr>PowerPoint Presentation</vt:lpstr>
      <vt:lpstr>MA Analytics Dashboard – Cloud PopA</vt:lpstr>
      <vt:lpstr>PowerPoint Presentation</vt:lpstr>
      <vt:lpstr>PowerPoint Presentation</vt:lpstr>
      <vt:lpstr>PowerPoint Presentation</vt:lpstr>
      <vt:lpstr>PowerPoint Presentation</vt:lpstr>
      <vt:lpstr>Thank you  Mukesh Kumar Technical Lead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Chidrawar</dc:creator>
  <cp:lastModifiedBy>Kumar, Mukesh - Contingent Worker</cp:lastModifiedBy>
  <cp:revision>1</cp:revision>
  <dcterms:created xsi:type="dcterms:W3CDTF">2024-10-22T06:43:57Z</dcterms:created>
  <dcterms:modified xsi:type="dcterms:W3CDTF">2026-06-05T16:38:33Z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0x010100E8739C040A13A140ABB4EB2C9FB1BD3B</vt:lpwstr>
  </property>
  <property fmtid="{D5CDD505-2E9C-101B-9397-08002B2CF9AE}" pid="3" name="MediaServiceImageTags">
    <vt:lpwstr/>
  </property>
  <property fmtid="{D5CDD505-2E9C-101B-9397-08002B2CF9AE}" pid="4" name="MSIP_Label_1ff4da87-a692-4df0-aa4a-b9de6dde071b_Enabled">
    <vt:lpwstr>True</vt:lpwstr>
  </property>
  <property fmtid="{D5CDD505-2E9C-101B-9397-08002B2CF9AE}" pid="5" name="MSIP_Label_1ff4da87-a692-4df0-aa4a-b9de6dde071b_SiteId">
    <vt:lpwstr>b83d9555-72c0-4679-b600-389d9d0a79d4</vt:lpwstr>
  </property>
  <property fmtid="{D5CDD505-2E9C-101B-9397-08002B2CF9AE}" pid="6" name="MSIP_Label_1ff4da87-a692-4df0-aa4a-b9de6dde071b_SetDate">
    <vt:lpwstr>2025-05-08T18:42:27Z</vt:lpwstr>
  </property>
  <property fmtid="{D5CDD505-2E9C-101B-9397-08002B2CF9AE}" pid="7" name="MSIP_Label_1ff4da87-a692-4df0-aa4a-b9de6dde071b_Name">
    <vt:lpwstr>Match - Health-Related</vt:lpwstr>
  </property>
  <property fmtid="{D5CDD505-2E9C-101B-9397-08002B2CF9AE}" pid="8" name="MSIP_Label_1ff4da87-a692-4df0-aa4a-b9de6dde071b_ActionId">
    <vt:lpwstr>c02ee911-2574-46bd-bbe9-a6e3dbfaf882</vt:lpwstr>
  </property>
  <property fmtid="{D5CDD505-2E9C-101B-9397-08002B2CF9AE}" pid="9" name="MSIP_Label_1ff4da87-a692-4df0-aa4a-b9de6dde071b_Removed">
    <vt:lpwstr>False</vt:lpwstr>
  </property>
  <property fmtid="{D5CDD505-2E9C-101B-9397-08002B2CF9AE}" pid="10" name="MSIP_Label_1ff4da87-a692-4df0-aa4a-b9de6dde071b_Extended_MSFT_Method">
    <vt:lpwstr>Standard</vt:lpwstr>
  </property>
  <property fmtid="{D5CDD505-2E9C-101B-9397-08002B2CF9AE}" pid="11" name="Sensitivity">
    <vt:lpwstr>Match - Health-Related</vt:lpwstr>
  </property>
</Properties>
</file>